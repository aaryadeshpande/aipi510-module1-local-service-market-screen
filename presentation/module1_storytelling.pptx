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2.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43134a1c5644d5a" /><Relationship Type="http://schemas.openxmlformats.org/officeDocument/2006/relationships/extended-properties" Target="/docProps/app.xml" Id="R02d1acf1e596426f" /><Relationship Type="http://schemas.openxmlformats.org/officeDocument/2006/relationships/officeDocument" Target="/ppt/presentation.xml" Id="R045275632e274441" /></Relationships>
</file>

<file path=ppt/presentation.xml><?xml version="1.0" encoding="utf-8"?>
<p:presentation xmlns:p="http://schemas.openxmlformats.org/presentationml/2006/main">
  <p:sldMasterIdLst>
    <p:sldMasterId xmlns:r="http://schemas.openxmlformats.org/officeDocument/2006/relationships" id="2147483648" r:id="Re5e127dba3a748ce"/>
  </p:sldMasterIdLst>
  <p:notesMasterIdLst>
    <p:notesMasterId xmlns:r="http://schemas.openxmlformats.org/officeDocument/2006/relationships" r:id="Rd91b0ccade1e41e8"/>
  </p:notesMasterIdLst>
  <p:sldIdLst>
    <p:sldId xmlns:r="http://schemas.openxmlformats.org/officeDocument/2006/relationships" id="256" r:id="R6501a73ac6234f96"/>
    <p:sldId xmlns:r="http://schemas.openxmlformats.org/officeDocument/2006/relationships" id="257" r:id="R42fcb73c261a4928"/>
    <p:sldId xmlns:r="http://schemas.openxmlformats.org/officeDocument/2006/relationships" id="258" r:id="R4aefea11ab514ca0"/>
    <p:sldId xmlns:r="http://schemas.openxmlformats.org/officeDocument/2006/relationships" id="259" r:id="R02e7f9a28aad4ba1"/>
    <p:sldId xmlns:r="http://schemas.openxmlformats.org/officeDocument/2006/relationships" id="260" r:id="R4d2997d1481a4863"/>
    <p:sldId xmlns:r="http://schemas.openxmlformats.org/officeDocument/2006/relationships" id="261" r:id="Ref24b8081a624048"/>
    <p:sldId xmlns:r="http://schemas.openxmlformats.org/officeDocument/2006/relationships" id="262" r:id="R3dba9632a366426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e18be288b614d0b" /><Relationship Type="http://schemas.openxmlformats.org/officeDocument/2006/relationships/slideMaster" Target="/ppt/slideMasters/slideMaster1.xml" Id="Re5e127dba3a748ce" /><Relationship Type="http://schemas.openxmlformats.org/officeDocument/2006/relationships/notesMaster" Target="/ppt/notesMasters/notesMaster1.xml" Id="Rd91b0ccade1e41e8" /><Relationship Type="http://schemas.openxmlformats.org/officeDocument/2006/relationships/presProps" Target="/ppt/presProps.xml" Id="Re343de0d49254c65" /><Relationship Type="http://schemas.openxmlformats.org/officeDocument/2006/relationships/tableStyles" Target="/ppt/tableStyles.xml" Id="R35071df4f9cf4fa2" /><Relationship Type="http://schemas.openxmlformats.org/officeDocument/2006/relationships/slide" Target="/ppt/slides/slide1.xml" Id="R6501a73ac6234f96" /><Relationship Type="http://schemas.openxmlformats.org/officeDocument/2006/relationships/slide" Target="/ppt/slides/slide2.xml" Id="R42fcb73c261a4928" /><Relationship Type="http://schemas.openxmlformats.org/officeDocument/2006/relationships/slide" Target="/ppt/slides/slide3.xml" Id="R4aefea11ab514ca0" /><Relationship Type="http://schemas.openxmlformats.org/officeDocument/2006/relationships/slide" Target="/ppt/slides/slide4.xml" Id="R02e7f9a28aad4ba1" /><Relationship Type="http://schemas.openxmlformats.org/officeDocument/2006/relationships/slide" Target="/ppt/slides/slide5.xml" Id="R4d2997d1481a4863" /><Relationship Type="http://schemas.openxmlformats.org/officeDocument/2006/relationships/slide" Target="/ppt/slides/slide6.xml" Id="Ref24b8081a624048" /><Relationship Type="http://schemas.openxmlformats.org/officeDocument/2006/relationships/slide" Target="/ppt/slides/slide7.xml" Id="R3dba9632a366426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ffd9f9126f7404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7c014a5d5ba4ee4" /><Relationship Type="http://schemas.openxmlformats.org/officeDocument/2006/relationships/notesMaster" Target="/ppt/notesMasters/notesMaster1.xml" Id="R8bebd812c9d74126" /></Relationships>
</file>

<file path=ppt/notesSlides/_rels/notesSlide2.xml.rels>&#65279;<?xml version="1.0" encoding="utf-8"?><Relationships xmlns="http://schemas.openxmlformats.org/package/2006/relationships"><Relationship Type="http://schemas.openxmlformats.org/officeDocument/2006/relationships/slide" Target="/ppt/slides/slide2.xml" Id="R050fd30802ae484a" /><Relationship Type="http://schemas.openxmlformats.org/officeDocument/2006/relationships/notesMaster" Target="/ppt/notesMasters/notesMaster1.xml" Id="R69372ec0d8ed484f" /></Relationships>
</file>

<file path=ppt/notesSlides/_rels/notesSlide3.xml.rels>&#65279;<?xml version="1.0" encoding="utf-8"?><Relationships xmlns="http://schemas.openxmlformats.org/package/2006/relationships"><Relationship Type="http://schemas.openxmlformats.org/officeDocument/2006/relationships/slide" Target="/ppt/slides/slide3.xml" Id="Rc643a044e2e04f8d" /><Relationship Type="http://schemas.openxmlformats.org/officeDocument/2006/relationships/notesMaster" Target="/ppt/notesMasters/notesMaster1.xml" Id="Re372e27caac44152" /></Relationships>
</file>

<file path=ppt/notesSlides/_rels/notesSlide4.xml.rels>&#65279;<?xml version="1.0" encoding="utf-8"?><Relationships xmlns="http://schemas.openxmlformats.org/package/2006/relationships"><Relationship Type="http://schemas.openxmlformats.org/officeDocument/2006/relationships/slide" Target="/ppt/slides/slide4.xml" Id="Rd9d26f1cf4bb49c2" /><Relationship Type="http://schemas.openxmlformats.org/officeDocument/2006/relationships/notesMaster" Target="/ppt/notesMasters/notesMaster1.xml" Id="Rb8d843e8647148ba" /></Relationships>
</file>

<file path=ppt/notesSlides/_rels/notesSlide5.xml.rels>&#65279;<?xml version="1.0" encoding="utf-8"?><Relationships xmlns="http://schemas.openxmlformats.org/package/2006/relationships"><Relationship Type="http://schemas.openxmlformats.org/officeDocument/2006/relationships/slide" Target="/ppt/slides/slide5.xml" Id="Rac02c100d6694464" /><Relationship Type="http://schemas.openxmlformats.org/officeDocument/2006/relationships/notesMaster" Target="/ppt/notesMasters/notesMaster1.xml" Id="R27df17222a5f4872" /></Relationships>
</file>

<file path=ppt/notesSlides/_rels/notesSlide6.xml.rels>&#65279;<?xml version="1.0" encoding="utf-8"?><Relationships xmlns="http://schemas.openxmlformats.org/package/2006/relationships"><Relationship Type="http://schemas.openxmlformats.org/officeDocument/2006/relationships/slide" Target="/ppt/slides/slide6.xml" Id="R4e56099b01bf4756" /><Relationship Type="http://schemas.openxmlformats.org/officeDocument/2006/relationships/notesMaster" Target="/ppt/notesMasters/notesMaster1.xml" Id="Rb21fa7ebf5754fb4" /></Relationships>
</file>

<file path=ppt/notesSlides/_rels/notesSlide7.xml.rels>&#65279;<?xml version="1.0" encoding="utf-8"?><Relationships xmlns="http://schemas.openxmlformats.org/package/2006/relationships"><Relationship Type="http://schemas.openxmlformats.org/officeDocument/2006/relationships/slide" Target="/ppt/slides/slide7.xml" Id="R87fb475b93ae4c19" /><Relationship Type="http://schemas.openxmlformats.org/officeDocument/2006/relationships/notesMaster" Target="/ppt/notesMasters/notesMaster1.xml" Id="Rb187c081b01d4f6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0:45. The audience is a founder choosing where to conduct customer discovery. Anecdotes can suggest a niche, but we can first check market structure with public evidence. This analysis narrows where to interview; it does not identify a product or prove demand. Sources: https://www.census.gov/data/datasets/2023/econ/cbp/2023-cbp.html and https://www.bls.gov/oes/tables.htm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0:55. CBP counts employer establishments, which are physical locations, not distinct firms. OEWS reports national occupational estimates, not firm-level operations. We selected 12 local-service industries with usable industry definitions in both sources. CBP uses 2017 NAICS and OEWS 2022 NAICS; the official concordance confirmed these particular matches at four- or six-digit scope. Sources: https://www.census.gov/data/datasets/2023/econ/cbp/2023-cbp.html; https://www.bls.gov/oes/tables.htm; https://www.census.gov/naics/concordances/2022_to_2017_NAICS.xlsx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1:05. Most of these selected industries have a high share of locations with fewer than 20 employees. Chiropractors reach 99.2%. Dental offices have 129,008 of 135,665 locations below 20 employees, about 95.1%. Home health is different at 62.3%. Small locations can be part of multi-location firms, and CBP excludes nonemployers. Source: https://www.census.gov/data/datasets/2023/econ/cbp/2023-cbp.html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1:05. Location fragmentation alone does not tell us what work occurs inside a business. OEWS estimates 40.3% of chiropractor employment in office/admin occupations, versus 28.2% in dental, 26.8% in accounting, 25.0% in legal, 6.5% in landscaping and 5.4% in home health. Annual mean wages range from $42,280 to $57,710 across the 12 selected industries. This is a broad occupational group and does not say which tasks are painful or automatable. Source: https://www.bls.gov/oes/tables.htm; methods: https://www.bls.gov/oes/2025/may/oes_tec.htm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2:00. The hero chart puts three dimensions together without collapsing them into a subjective opportunity score. Dental offices have about 129,008 small employer locations, a 28.2% office/admin share, and a $110,000 proxy per average establishment. Accounting has 129,097 small locations and a $132,000 proxy. Legal has 170,721 small locations and a $95,000 proxy. Veterinary has the highest proxy at about $134,000 but only 27,497 small locations; chiropractors have a 40.3% admin share but much less depth than legal. The proxy multiplies CBP average employees across all establishments by OEWS admin employment share and mean annual wage. It is not an estimate of payroll for a small location. OEWS annual wages generally use a full-time-year convention. These sources refer to different years and populations, so the number is directional, not observed payroll or an automatable budget. Sources: https://www.census.gov/data/datasets/2023/econ/cbp/2023-cbp.html; https://www.bls.gov/oes/tables.htm; https://www.bls.gov/oes/2025/may/oes_tec.htm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0:55. We should make these limits explicit. CBP excludes nonemployers and counts locations rather than distinct firms. OEWS May 2025 combines six sample panels over three years and estimates wage/salary workers; it excludes some owners and self-employed workers. Our industry definitions were matched with the official NAICS concordance, but the data years differ. The payroll proxy is not measured firm payroll. Admin work includes valuable human service and care; it would be unethical to label these jobs as waste or imply they should be replaced. Sources: https://www.census.gov/data/datasets/2023/econ/cbp/2023-cbp.html; https://www.bls.gov/oes/2025/may/oes_tec.htm; https://www.census.gov/naics/concordances/2022_to_2017_NAICS.xlsx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 We would interview four markets first for different reasons, without deciding a winner. Accounting, dental and legal combine considerable market depth with meaningful office/admin shares. Chiropractors are a contrast case with the highest admin share but fewer small locations. Interviews should test actual workflow pain, purchasing authority, existing tools, privacy and safety constraints, and willingness to pay. Public data can guide where to ask better questions; customers determine whether anything is worth building. Sources: https://www.census.gov/data/datasets/2023/econ/cbp/2023-cbp.html; https://www.bls.gov/oes/tables.htm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f9888816ef74e7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d972e756e814d99" /><Relationship Type="http://schemas.openxmlformats.org/officeDocument/2006/relationships/slideLayout" Target="/ppt/slideLayouts/slideLayout1.xml" Id="R6f1f2490b24445a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f1f2490b24445a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eed3c2cb2ab491c" /><Relationship Type="http://schemas.openxmlformats.org/officeDocument/2006/relationships/notesSlide" Target="/ppt/notesSlides/notesSlide1.xml" Id="R81c82dab66de4d2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680bb88770a4d20" /><Relationship Type="http://schemas.openxmlformats.org/officeDocument/2006/relationships/notesSlide" Target="/ppt/notesSlides/notesSlide2.xml" Id="R77ea5cfb442e4aa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afda9dab8f54290" /><Relationship Type="http://schemas.openxmlformats.org/officeDocument/2006/relationships/chart" Target="/ppt/slides/charts/chart1.xml" Id="Re182192f0c984835" /><Relationship Type="http://schemas.openxmlformats.org/officeDocument/2006/relationships/notesSlide" Target="/ppt/notesSlides/notesSlide3.xml" Id="Rfb5c0cacd73e48a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519df4a762d44fd" /><Relationship Type="http://schemas.openxmlformats.org/officeDocument/2006/relationships/chart" Target="/ppt/slides/charts/chart2.xml" Id="Rf8b195f4f3b94fd3" /><Relationship Type="http://schemas.openxmlformats.org/officeDocument/2006/relationships/notesSlide" Target="/ppt/notesSlides/notesSlide4.xml" Id="R7dc5c99b15e0429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ae433e3ff1c4236" /><Relationship Type="http://schemas.openxmlformats.org/officeDocument/2006/relationships/image" Target="/ppt/media/image.png" Id="R4ef6eed3388d4587" /><Relationship Type="http://schemas.openxmlformats.org/officeDocument/2006/relationships/notesSlide" Target="/ppt/notesSlides/notesSlide5.xml" Id="Rf00859de2b66482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602935f663d41f9" /><Relationship Type="http://schemas.openxmlformats.org/officeDocument/2006/relationships/notesSlide" Target="/ppt/notesSlides/notesSlide6.xml" Id="R844e35b3a9094da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0c96b4b94c64a6a" /><Relationship Type="http://schemas.openxmlformats.org/officeDocument/2006/relationships/notesSlide" Target="/ppt/notesSlides/notesSlide7.xml" Id="Ra864cdfb5ffb404c"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Share under 20 employees</c:v>
          </c:tx>
          <c:spPr>
            <a:solidFill xmlns:a="http://schemas.openxmlformats.org/drawingml/2006/main">
              <a:srgbClr val="183153"/>
            </a:solidFill>
          </c:spPr>
          <c:dPt>
            <c:idx val="0"/>
            <c:invertIfNegative val="0"/>
            <c:spPr>
              <a:solidFill xmlns:a="http://schemas.openxmlformats.org/drawingml/2006/main">
                <a:srgbClr val="183153"/>
              </a:solidFill>
            </c:spPr>
          </c:dPt>
          <c:dPt>
            <c:idx val="1"/>
            <c:invertIfNegative val="0"/>
            <c:spPr>
              <a:solidFill xmlns:a="http://schemas.openxmlformats.org/drawingml/2006/main">
                <a:srgbClr val="183153"/>
              </a:solidFill>
            </c:spPr>
          </c:dPt>
          <c:dPt>
            <c:idx val="2"/>
            <c:invertIfNegative val="0"/>
            <c:spPr>
              <a:solidFill xmlns:a="http://schemas.openxmlformats.org/drawingml/2006/main">
                <a:srgbClr val="183153"/>
              </a:solidFill>
            </c:spPr>
          </c:dPt>
          <c:dPt>
            <c:idx val="3"/>
            <c:invertIfNegative val="0"/>
            <c:spPr>
              <a:solidFill xmlns:a="http://schemas.openxmlformats.org/drawingml/2006/main">
                <a:srgbClr val="183153"/>
              </a:solidFill>
            </c:spPr>
          </c:dPt>
          <c:dPt>
            <c:idx val="4"/>
            <c:invertIfNegative val="0"/>
            <c:spPr>
              <a:solidFill xmlns:a="http://schemas.openxmlformats.org/drawingml/2006/main">
                <a:srgbClr val="183153"/>
              </a:solidFill>
            </c:spPr>
          </c:dPt>
          <c:dPt>
            <c:idx val="5"/>
            <c:invertIfNegative val="0"/>
            <c:spPr>
              <a:solidFill xmlns:a="http://schemas.openxmlformats.org/drawingml/2006/main">
                <a:srgbClr val="183153"/>
              </a:solidFill>
            </c:spPr>
          </c:dPt>
          <c:dPt>
            <c:idx val="6"/>
            <c:invertIfNegative val="0"/>
            <c:spPr>
              <a:solidFill xmlns:a="http://schemas.openxmlformats.org/drawingml/2006/main">
                <a:srgbClr val="007E87"/>
              </a:solidFill>
            </c:spPr>
          </c:dPt>
          <c:dPt>
            <c:idx val="7"/>
            <c:invertIfNegative val="0"/>
            <c:spPr>
              <a:solidFill xmlns:a="http://schemas.openxmlformats.org/drawingml/2006/main">
                <a:srgbClr val="007E87"/>
              </a:solidFill>
            </c:spPr>
          </c:dPt>
          <c:dPt>
            <c:idx val="8"/>
            <c:invertIfNegative val="0"/>
            <c:spPr>
              <a:solidFill xmlns:a="http://schemas.openxmlformats.org/drawingml/2006/main">
                <a:srgbClr val="007E87"/>
              </a:solidFill>
            </c:spPr>
          </c:dPt>
          <c:dPt>
            <c:idx val="9"/>
            <c:invertIfNegative val="0"/>
            <c:spPr>
              <a:solidFill xmlns:a="http://schemas.openxmlformats.org/drawingml/2006/main">
                <a:srgbClr val="183153"/>
              </a:solidFill>
            </c:spPr>
          </c:dPt>
          <c:dPt>
            <c:idx val="10"/>
            <c:invertIfNegative val="0"/>
            <c:spPr>
              <a:solidFill xmlns:a="http://schemas.openxmlformats.org/drawingml/2006/main">
                <a:srgbClr val="183153"/>
              </a:solidFill>
            </c:spPr>
          </c:dPt>
          <c:dPt>
            <c:idx val="11"/>
            <c:invertIfNegative val="0"/>
            <c:spPr>
              <a:solidFill xmlns:a="http://schemas.openxmlformats.org/drawingml/2006/main">
                <a:srgbClr val="183153"/>
              </a:solidFill>
            </c:spPr>
          </c:dPt>
          <c:cat>
            <c:strRef>
              <c:f>'Chart Data'!$A$2:$A$13</c:f>
              <c:strCache>
                <c:ptCount val="12"/>
                <c:pt idx="0">
                  <c:v>Home health care services</c:v>
                </c:pt>
                <c:pt idx="1">
                  <c:v>Veterinary services</c:v>
                </c:pt>
                <c:pt idx="2">
                  <c:v>Electrical contractors</c:v>
                </c:pt>
                <c:pt idx="3">
                  <c:v>Plumbing and HVAC contractors</c:v>
                </c:pt>
                <c:pt idx="4">
                  <c:v>Therapy practices</c:v>
                </c:pt>
                <c:pt idx="5">
                  <c:v>Landscaping services</c:v>
                </c:pt>
                <c:pt idx="6">
                  <c:v>Accounting and tax services</c:v>
                </c:pt>
                <c:pt idx="7">
                  <c:v>Legal services</c:v>
                </c:pt>
                <c:pt idx="8">
                  <c:v>Dental offices</c:v>
                </c:pt>
                <c:pt idx="9">
                  <c:v>Optometrists</c:v>
                </c:pt>
                <c:pt idx="10">
                  <c:v>Automotive repair and maintenance</c:v>
                </c:pt>
                <c:pt idx="11">
                  <c:v>Chiropractors</c:v>
                </c:pt>
              </c:strCache>
            </c:strRef>
          </c:cat>
          <c:val>
            <c:numRef>
              <c:f>'Chart Data'!$B$2:$B$13</c:f>
              <c:numCache>
                <c:formatCode>0%</c:formatCode>
                <c:ptCount val="12"/>
                <c:pt idx="0">
                  <c:v>0.62259</c:v>
                </c:pt>
                <c:pt idx="1">
                  <c:v>0.801755</c:v>
                </c:pt>
                <c:pt idx="2">
                  <c:v>0.880768</c:v>
                </c:pt>
                <c:pt idx="3">
                  <c:v>0.886689</c:v>
                </c:pt>
                <c:pt idx="4">
                  <c:v>0.921684</c:v>
                </c:pt>
                <c:pt idx="5">
                  <c:v>0.930567</c:v>
                </c:pt>
                <c:pt idx="6">
                  <c:v>0.94184</c:v>
                </c:pt>
                <c:pt idx="7">
                  <c:v>0.942731</c:v>
                </c:pt>
                <c:pt idx="8">
                  <c:v>0.950931</c:v>
                </c:pt>
                <c:pt idx="9">
                  <c:v>0.95658</c:v>
                </c:pt>
                <c:pt idx="10">
                  <c:v>0.957475</c:v>
                </c:pt>
                <c:pt idx="11">
                  <c:v>0.991632</c:v>
                </c:pt>
              </c:numCache>
            </c:numRef>
          </c:val>
        </c:ser>
        <c:dLbls>
          <c:txPr>
            <a:bodyPr xmlns:a="http://schemas.openxmlformats.org/drawingml/2006/main" anchorCtr="1"/>
            <a:lstStyle xmlns:a="http://schemas.openxmlformats.org/drawingml/2006/main"/>
            <a:p xmlns:a="http://schemas.openxmlformats.org/drawingml/2006/main">
              <a:pPr>
                <a:defRPr sz="938">
                  <a:solidFill>
                    <a:srgbClr val="172536"/>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38"/>
        <c:axId val="48650112"/>
        <c:axId val="48672768"/>
      </c:barChart>
      <c:catAx>
        <c:axId val="48650112"/>
        <c:scaling>
          <c:orientation val="minMax"/>
        </c:scaling>
        <c:delete val="0"/>
        <c:axPos val="l"/>
        <c:majorGridlines>
          <c:spPr>
            <a:ln xmlns:a="http://schemas.openxmlformats.org/drawingml/2006/main" w="9525">
              <a:solidFill>
                <a:srgbClr val="E1E8EF"/>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07284"/>
                </a:solidFill>
                <a:latin typeface="Helvetica Neue"/>
                <a:ea typeface="Helvetica Neue"/>
                <a:cs typeface="Helvetica Neue"/>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172536"/>
                </a:solidFill>
                <a:latin typeface="Helvetica Neue"/>
                <a:ea typeface="Helvetica Neue"/>
                <a:cs typeface="Helvetica Neue"/>
              </a:defRPr>
            </a:pPr>
          </a:p>
        </c:txPr>
        <c:crossAx val="48650112"/>
        <c:crossBetween val="between"/>
      </c:valAx>
    </c:plotArea>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Office/admin share</c:v>
          </c:tx>
          <c:spPr>
            <a:solidFill xmlns:a="http://schemas.openxmlformats.org/drawingml/2006/main">
              <a:srgbClr val="183153"/>
            </a:solidFill>
          </c:spPr>
          <c:dPt>
            <c:idx val="0"/>
            <c:invertIfNegative val="0"/>
            <c:spPr>
              <a:solidFill xmlns:a="http://schemas.openxmlformats.org/drawingml/2006/main">
                <a:srgbClr val="183153"/>
              </a:solidFill>
            </c:spPr>
          </c:dPt>
          <c:dPt>
            <c:idx val="1"/>
            <c:invertIfNegative val="0"/>
            <c:spPr>
              <a:solidFill xmlns:a="http://schemas.openxmlformats.org/drawingml/2006/main">
                <a:srgbClr val="183153"/>
              </a:solidFill>
            </c:spPr>
          </c:dPt>
          <c:dPt>
            <c:idx val="2"/>
            <c:invertIfNegative val="0"/>
            <c:spPr>
              <a:solidFill xmlns:a="http://schemas.openxmlformats.org/drawingml/2006/main">
                <a:srgbClr val="183153"/>
              </a:solidFill>
            </c:spPr>
          </c:dPt>
          <c:dPt>
            <c:idx val="3"/>
            <c:invertIfNegative val="0"/>
            <c:spPr>
              <a:solidFill xmlns:a="http://schemas.openxmlformats.org/drawingml/2006/main">
                <a:srgbClr val="007E87"/>
              </a:solidFill>
            </c:spPr>
          </c:dPt>
          <c:dPt>
            <c:idx val="4"/>
            <c:invertIfNegative val="0"/>
            <c:spPr>
              <a:solidFill xmlns:a="http://schemas.openxmlformats.org/drawingml/2006/main">
                <a:srgbClr val="007E87"/>
              </a:solidFill>
            </c:spPr>
          </c:dPt>
          <c:dPt>
            <c:idx val="5"/>
            <c:invertIfNegative val="0"/>
            <c:spPr>
              <a:solidFill xmlns:a="http://schemas.openxmlformats.org/drawingml/2006/main">
                <a:srgbClr val="007E87"/>
              </a:solidFill>
            </c:spPr>
          </c:dPt>
          <c:dPt>
            <c:idx val="6"/>
            <c:invertIfNegative val="0"/>
            <c:spPr>
              <a:solidFill xmlns:a="http://schemas.openxmlformats.org/drawingml/2006/main">
                <a:srgbClr val="183153"/>
              </a:solidFill>
            </c:spPr>
          </c:dPt>
          <c:dPt>
            <c:idx val="7"/>
            <c:invertIfNegative val="0"/>
            <c:spPr>
              <a:solidFill xmlns:a="http://schemas.openxmlformats.org/drawingml/2006/main">
                <a:srgbClr val="183153"/>
              </a:solidFill>
            </c:spPr>
          </c:dPt>
          <c:cat>
            <c:strRef>
              <c:f>'Chart Data'!$A$2:$A$9</c:f>
              <c:strCache>
                <c:ptCount val="8"/>
                <c:pt idx="0">
                  <c:v>Home health care services</c:v>
                </c:pt>
                <c:pt idx="1">
                  <c:v>Landscaping services</c:v>
                </c:pt>
                <c:pt idx="2">
                  <c:v>Veterinary services</c:v>
                </c:pt>
                <c:pt idx="3">
                  <c:v>Legal services</c:v>
                </c:pt>
                <c:pt idx="4">
                  <c:v>Accounting and tax services</c:v>
                </c:pt>
                <c:pt idx="5">
                  <c:v>Dental offices</c:v>
                </c:pt>
                <c:pt idx="6">
                  <c:v>Optometrists</c:v>
                </c:pt>
                <c:pt idx="7">
                  <c:v>Chiropractors</c:v>
                </c:pt>
              </c:strCache>
            </c:strRef>
          </c:cat>
          <c:val>
            <c:numRef>
              <c:f>'Chart Data'!$B$2:$B$9</c:f>
              <c:numCache>
                <c:formatCode>0%</c:formatCode>
                <c:ptCount val="8"/>
                <c:pt idx="0">
                  <c:v>0.053507</c:v>
                </c:pt>
                <c:pt idx="1">
                  <c:v>0.065163</c:v>
                </c:pt>
                <c:pt idx="2">
                  <c:v>0.223523</c:v>
                </c:pt>
                <c:pt idx="3">
                  <c:v>0.24961</c:v>
                </c:pt>
                <c:pt idx="4">
                  <c:v>0.267874</c:v>
                </c:pt>
                <c:pt idx="5">
                  <c:v>0.281734</c:v>
                </c:pt>
                <c:pt idx="6">
                  <c:v>0.303954</c:v>
                </c:pt>
                <c:pt idx="7">
                  <c:v>0.403122</c:v>
                </c:pt>
              </c:numCache>
            </c:numRef>
          </c:val>
        </c:ser>
        <c:dLbls>
          <c:txPr>
            <a:bodyPr xmlns:a="http://schemas.openxmlformats.org/drawingml/2006/main" anchorCtr="1"/>
            <a:lstStyle xmlns:a="http://schemas.openxmlformats.org/drawingml/2006/main"/>
            <a:p xmlns:a="http://schemas.openxmlformats.org/drawingml/2006/main">
              <a:pPr>
                <a:defRPr sz="975">
                  <a:solidFill>
                    <a:srgbClr val="172536"/>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l"/>
        <c:majorGridlines>
          <c:spPr>
            <a:ln xmlns:a="http://schemas.openxmlformats.org/drawingml/2006/main" w="9525">
              <a:solidFill>
                <a:srgbClr val="E1E8EF"/>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07284"/>
                </a:solidFill>
                <a:latin typeface="Helvetica Neue"/>
                <a:ea typeface="Helvetica Neue"/>
                <a:cs typeface="Helvetica Neue"/>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172536"/>
                </a:solidFill>
                <a:latin typeface="Helvetica Neue"/>
                <a:ea typeface="Helvetica Neue"/>
                <a:cs typeface="Helvetica Neue"/>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02A952A-A79F-42C9-98F7-D574051477D2}"/>
              </a:ext>
            </a:extLst>
          </p:cNvPr>
          <p:cNvSpPr>
            <a:spLocks xmlns:a="http://schemas.openxmlformats.org/drawingml/2006/main" noGrp="1"/>
          </p:cNvSpPr>
          <p:nvPr/>
        </p:nvSpPr>
        <p:spPr>
          <a:xfrm xmlns:a="http://schemas.openxmlformats.org/drawingml/2006/main">
            <a:off x="714375" y="46672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007E87"/>
                </a:solidFill>
                <a:latin typeface="Helvetica Neue"/>
                <a:ea typeface="Helvetica Neue"/>
                <a:cs typeface="Helvetica Neue"/>
              </a:defRPr>
            </a:pPr>
            <a:r>
              <a:rPr sz="1275" b="1">
                <a:solidFill>
                  <a:srgbClr val="007E87"/>
                </a:solidFill>
                <a:latin typeface="Helvetica Neue"/>
                <a:ea typeface="Helvetica Neue"/>
                <a:cs typeface="Helvetica Neue"/>
              </a:rPr>
              <a:t>AIPI 510 · MODULE PROJECT 1</a:t>
            </a:r>
          </a:p>
        </p:txBody>
      </p:sp>
      <p:sp>
        <p:nvSpPr>
          <p:cNvPr id="2" name="">
            <a:extLst xmlns:a="http://schemas.openxmlformats.org/drawingml/2006/main">
              <a:ext uri="{FF2B5EF4-FFF2-40B4-BE49-F238E27FC236}">
                <a16:creationId xmlns:a16="http://schemas.microsoft.com/office/drawing/2014/main" id="{9FF7C96A-4E89-4404-80EF-95AC948A0222}"/>
              </a:ext>
            </a:extLst>
          </p:cNvPr>
          <p:cNvSpPr>
            <a:spLocks xmlns:a="http://schemas.openxmlformats.org/drawingml/2006/main" noGrp="1"/>
          </p:cNvSpPr>
          <p:nvPr/>
        </p:nvSpPr>
        <p:spPr>
          <a:xfrm xmlns:a="http://schemas.openxmlformats.org/drawingml/2006/main">
            <a:off x="714375" y="1428750"/>
            <a:ext cx="10572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975" b="1">
                <a:solidFill>
                  <a:srgbClr val="183153"/>
                </a:solidFill>
                <a:latin typeface="Helvetica Neue"/>
                <a:ea typeface="Helvetica Neue"/>
                <a:cs typeface="Helvetica Neue"/>
              </a:defRPr>
            </a:pPr>
            <a:r>
              <a:rPr sz="3975" b="1">
                <a:solidFill>
                  <a:srgbClr val="183153"/>
                </a:solidFill>
                <a:latin typeface="Helvetica Neue"/>
                <a:ea typeface="Helvetica Neue"/>
                <a:cs typeface="Helvetica Neue"/>
              </a:rPr>
              <a:t>Where should a founder look</a:t>
            </a:r>
          </a:p>
          <a:p xmlns:a="http://schemas.openxmlformats.org/drawingml/2006/main">
            <a:pPr algn="l">
              <a:defRPr sz="3975" b="1">
                <a:solidFill>
                  <a:srgbClr val="183153"/>
                </a:solidFill>
                <a:latin typeface="Helvetica Neue"/>
                <a:ea typeface="Helvetica Neue"/>
                <a:cs typeface="Helvetica Neue"/>
              </a:defRPr>
            </a:pPr>
            <a:r>
              <a:rPr sz="3975" b="1">
                <a:solidFill>
                  <a:srgbClr val="183153"/>
                </a:solidFill>
                <a:latin typeface="Helvetica Neue"/>
                <a:ea typeface="Helvetica Neue"/>
                <a:cs typeface="Helvetica Neue"/>
              </a:rPr>
              <a:t>before building?</a:t>
            </a:r>
          </a:p>
        </p:txBody>
      </p:sp>
      <p:sp>
        <p:nvSpPr>
          <p:cNvPr id="3" name="">
            <a:extLst xmlns:a="http://schemas.openxmlformats.org/drawingml/2006/main">
              <a:ext uri="{FF2B5EF4-FFF2-40B4-BE49-F238E27FC236}">
                <a16:creationId xmlns:a16="http://schemas.microsoft.com/office/drawing/2014/main" id="{ACF45D23-4EE1-458B-9977-4CF92B3CA679}"/>
              </a:ext>
            </a:extLst>
          </p:cNvPr>
          <p:cNvSpPr>
            <a:spLocks xmlns:a="http://schemas.openxmlformats.org/drawingml/2006/main" noGrp="1"/>
          </p:cNvSpPr>
          <p:nvPr/>
        </p:nvSpPr>
        <p:spPr>
          <a:xfrm xmlns:a="http://schemas.openxmlformats.org/drawingml/2006/main">
            <a:off x="714375" y="3238500"/>
            <a:ext cx="1019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0">
                <a:solidFill>
                  <a:srgbClr val="172536"/>
                </a:solidFill>
                <a:latin typeface="Helvetica Neue"/>
                <a:ea typeface="Helvetica Neue"/>
                <a:cs typeface="Helvetica Neue"/>
              </a:defRPr>
            </a:pPr>
            <a:r>
              <a:rPr sz="1875" b="0">
                <a:solidFill>
                  <a:srgbClr val="172536"/>
                </a:solidFill>
                <a:latin typeface="Helvetica Neue"/>
                <a:ea typeface="Helvetica Neue"/>
                <a:cs typeface="Helvetica Neue"/>
              </a:rPr>
              <a:t>A public-data screen of 12 U.S. local-service industries</a:t>
            </a:r>
          </a:p>
        </p:txBody>
      </p:sp>
      <p:sp>
        <p:nvSpPr>
          <p:cNvPr id="4" name="">
            <a:extLst xmlns:a="http://schemas.openxmlformats.org/drawingml/2006/main">
              <a:ext uri="{FF2B5EF4-FFF2-40B4-BE49-F238E27FC236}">
                <a16:creationId xmlns:a16="http://schemas.microsoft.com/office/drawing/2014/main" id="{8C9638F4-17D2-4D59-AEC9-312DCE5CB4BF}"/>
              </a:ext>
            </a:extLst>
          </p:cNvPr>
          <p:cNvSpPr>
            <a:spLocks xmlns:a="http://schemas.openxmlformats.org/drawingml/2006/main" noGrp="1"/>
          </p:cNvSpPr>
          <p:nvPr/>
        </p:nvSpPr>
        <p:spPr>
          <a:xfrm xmlns:a="http://schemas.openxmlformats.org/drawingml/2006/main">
            <a:off x="714375" y="5343525"/>
            <a:ext cx="857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607284"/>
                </a:solidFill>
                <a:latin typeface="Helvetica Neue"/>
                <a:ea typeface="Helvetica Neue"/>
                <a:cs typeface="Helvetica Neue"/>
              </a:defRPr>
            </a:pPr>
            <a:r>
              <a:rPr sz="1500" b="0">
                <a:solidFill>
                  <a:srgbClr val="607284"/>
                </a:solidFill>
                <a:latin typeface="Helvetica Neue"/>
                <a:ea typeface="Helvetica Neue"/>
                <a:cs typeface="Helvetica Neue"/>
              </a:rPr>
              <a:t>Aarya Deshpande  ·  Tanya Sharma</a:t>
            </a:r>
          </a:p>
        </p:txBody>
      </p:sp>
      <p:sp>
        <p:nvSpPr>
          <p:cNvPr id="5" name="">
            <a:extLst xmlns:a="http://schemas.openxmlformats.org/drawingml/2006/main">
              <a:ext uri="{FF2B5EF4-FFF2-40B4-BE49-F238E27FC236}">
                <a16:creationId xmlns:a16="http://schemas.microsoft.com/office/drawing/2014/main" id="{DC55FDA9-4878-4DFF-A2F1-011B74DE2A6F}"/>
              </a:ext>
            </a:extLst>
          </p:cNvPr>
          <p:cNvSpPr>
            <a:spLocks xmlns:a="http://schemas.openxmlformats.org/drawingml/2006/main" noGrp="1"/>
          </p:cNvSpPr>
          <p:nvPr/>
        </p:nvSpPr>
        <p:spPr>
          <a:xfrm xmlns:a="http://schemas.openxmlformats.org/drawingml/2006/main">
            <a:off x="714375" y="57721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0">
                <a:solidFill>
                  <a:srgbClr val="607284"/>
                </a:solidFill>
                <a:latin typeface="Helvetica Neue"/>
                <a:ea typeface="Helvetica Neue"/>
                <a:cs typeface="Helvetica Neue"/>
              </a:defRPr>
            </a:pPr>
            <a:r>
              <a:rPr sz="1125" b="0">
                <a:solidFill>
                  <a:srgbClr val="607284"/>
                </a:solidFill>
                <a:latin typeface="Helvetica Neue"/>
                <a:ea typeface="Helvetica Neue"/>
                <a:cs typeface="Helvetica Neue"/>
              </a:rPr>
              <a:t>Working draft for team review</a:t>
            </a:r>
          </a:p>
        </p:txBody>
      </p:sp>
    </p:spTree>
    <p:extLst>
      <p:ext uri="{BB962C8B-B14F-4D97-AF65-F5344CB8AC3E}">
        <p14:creationId xmlns:p14="http://schemas.microsoft.com/office/powerpoint/2010/main" val="55117911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087D13C-2B07-4DA6-AE84-B492E8D830ED}"/>
              </a:ext>
            </a:extLst>
          </p:cNvPr>
          <p:cNvSpPr>
            <a:spLocks xmlns:a="http://schemas.openxmlformats.org/drawingml/2006/main" noGrp="1"/>
          </p:cNvSpPr>
          <p:nvPr/>
        </p:nvSpPr>
        <p:spPr>
          <a:xfrm xmlns:a="http://schemas.openxmlformats.org/drawingml/2006/main">
            <a:off x="685800" y="266700"/>
            <a:ext cx="809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007E87"/>
                </a:solidFill>
                <a:latin typeface="Helvetica Neue"/>
                <a:ea typeface="Helvetica Neue"/>
                <a:cs typeface="Helvetica Neue"/>
              </a:defRPr>
            </a:pPr>
            <a:r>
              <a:rPr sz="1125" b="1">
                <a:solidFill>
                  <a:srgbClr val="007E87"/>
                </a:solidFill>
                <a:latin typeface="Helvetica Neue"/>
                <a:ea typeface="Helvetica Neue"/>
                <a:cs typeface="Helvetica Neue"/>
              </a:rPr>
              <a:t>AIPI 510 · MODULE PROJECT 1</a:t>
            </a:r>
          </a:p>
        </p:txBody>
      </p:sp>
      <p:sp>
        <p:nvSpPr>
          <p:cNvPr id="2" name="">
            <a:extLst xmlns:a="http://schemas.openxmlformats.org/drawingml/2006/main">
              <a:ext uri="{FF2B5EF4-FFF2-40B4-BE49-F238E27FC236}">
                <a16:creationId xmlns:a16="http://schemas.microsoft.com/office/drawing/2014/main" id="{8028B7FC-5C3E-49F3-B8FF-94E55FBBC29D}"/>
              </a:ext>
            </a:extLst>
          </p:cNvPr>
          <p:cNvSpPr>
            <a:spLocks xmlns:a="http://schemas.openxmlformats.org/drawingml/2006/main" noGrp="1"/>
          </p:cNvSpPr>
          <p:nvPr/>
        </p:nvSpPr>
        <p:spPr>
          <a:xfrm xmlns:a="http://schemas.openxmlformats.org/drawingml/2006/main">
            <a:off x="685800" y="638175"/>
            <a:ext cx="10810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183153"/>
                </a:solidFill>
                <a:latin typeface="Helvetica Neue"/>
                <a:ea typeface="Helvetica Neue"/>
                <a:cs typeface="Helvetica Neue"/>
              </a:defRPr>
            </a:pPr>
            <a:r>
              <a:rPr sz="2700" b="1">
                <a:solidFill>
                  <a:srgbClr val="183153"/>
                </a:solidFill>
                <a:latin typeface="Helvetica Neue"/>
                <a:ea typeface="Helvetica Neue"/>
                <a:cs typeface="Helvetica Neue"/>
              </a:rPr>
              <a:t>Two datasets, one comparison</a:t>
            </a:r>
          </a:p>
        </p:txBody>
      </p:sp>
      <p:sp>
        <p:nvSpPr>
          <p:cNvPr id="3" name="">
            <a:extLst xmlns:a="http://schemas.openxmlformats.org/drawingml/2006/main">
              <a:ext uri="{FF2B5EF4-FFF2-40B4-BE49-F238E27FC236}">
                <a16:creationId xmlns:a16="http://schemas.microsoft.com/office/drawing/2014/main" id="{FDA7A449-B793-4770-8C2B-25F7FD8E3C16}"/>
              </a:ext>
            </a:extLst>
          </p:cNvPr>
          <p:cNvSpPr>
            <a:spLocks xmlns:a="http://schemas.openxmlformats.org/drawingml/2006/main" noGrp="1"/>
          </p:cNvSpPr>
          <p:nvPr/>
        </p:nvSpPr>
        <p:spPr>
          <a:xfrm xmlns:a="http://schemas.openxmlformats.org/drawingml/2006/main">
            <a:off x="10934700" y="6343650"/>
            <a:ext cx="666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0">
                <a:solidFill>
                  <a:srgbClr val="607284"/>
                </a:solidFill>
                <a:latin typeface="Helvetica Neue"/>
                <a:ea typeface="Helvetica Neue"/>
                <a:cs typeface="Helvetica Neue"/>
              </a:defRPr>
            </a:pPr>
            <a:r>
              <a:rPr sz="1050" b="0">
                <a:solidFill>
                  <a:srgbClr val="607284"/>
                </a:solidFill>
                <a:latin typeface="Helvetica Neue"/>
                <a:ea typeface="Helvetica Neue"/>
                <a:cs typeface="Helvetica Neue"/>
              </a:rPr>
              <a:t>2 / 7</a:t>
            </a:r>
          </a:p>
        </p:txBody>
      </p:sp>
      <p:sp>
        <p:nvSpPr>
          <p:cNvPr id="4" name="">
            <a:extLst xmlns:a="http://schemas.openxmlformats.org/drawingml/2006/main">
              <a:ext uri="{FF2B5EF4-FFF2-40B4-BE49-F238E27FC236}">
                <a16:creationId xmlns:a16="http://schemas.microsoft.com/office/drawing/2014/main" id="{69DCF28D-538B-4569-83E8-271095C3B9DF}"/>
              </a:ext>
            </a:extLst>
          </p:cNvPr>
          <p:cNvSpPr>
            <a:spLocks xmlns:a="http://schemas.openxmlformats.org/drawingml/2006/main" noGrp="1"/>
          </p:cNvSpPr>
          <p:nvPr/>
        </p:nvSpPr>
        <p:spPr>
          <a:xfrm xmlns:a="http://schemas.openxmlformats.org/drawingml/2006/main">
            <a:off x="714375" y="1743075"/>
            <a:ext cx="5095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183153"/>
                </a:solidFill>
                <a:latin typeface="Helvetica Neue"/>
                <a:ea typeface="Helvetica Neue"/>
                <a:cs typeface="Helvetica Neue"/>
              </a:defRPr>
            </a:pPr>
            <a:r>
              <a:rPr sz="2025" b="1">
                <a:solidFill>
                  <a:srgbClr val="183153"/>
                </a:solidFill>
                <a:latin typeface="Helvetica Neue"/>
                <a:ea typeface="Helvetica Neue"/>
                <a:cs typeface="Helvetica Neue"/>
              </a:rPr>
              <a:t>Census CBP · 2023</a:t>
            </a:r>
          </a:p>
        </p:txBody>
      </p:sp>
      <p:sp>
        <p:nvSpPr>
          <p:cNvPr id="5" name="">
            <a:extLst xmlns:a="http://schemas.openxmlformats.org/drawingml/2006/main">
              <a:ext uri="{FF2B5EF4-FFF2-40B4-BE49-F238E27FC236}">
                <a16:creationId xmlns:a16="http://schemas.microsoft.com/office/drawing/2014/main" id="{FF37D568-6883-424B-A7CF-9C1FB68EB8A7}"/>
              </a:ext>
            </a:extLst>
          </p:cNvPr>
          <p:cNvSpPr>
            <a:spLocks xmlns:a="http://schemas.openxmlformats.org/drawingml/2006/main" noGrp="1"/>
          </p:cNvSpPr>
          <p:nvPr/>
        </p:nvSpPr>
        <p:spPr>
          <a:xfrm xmlns:a="http://schemas.openxmlformats.org/drawingml/2006/main">
            <a:off x="714375" y="2247900"/>
            <a:ext cx="5095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172536"/>
                </a:solidFill>
                <a:latin typeface="Helvetica Neue"/>
                <a:ea typeface="Helvetica Neue"/>
                <a:cs typeface="Helvetica Neue"/>
              </a:defRPr>
            </a:pPr>
            <a:r>
              <a:rPr sz="1725" b="0">
                <a:solidFill>
                  <a:srgbClr val="172536"/>
                </a:solidFill>
                <a:latin typeface="Helvetica Neue"/>
                <a:ea typeface="Helvetica Neue"/>
                <a:cs typeface="Helvetica Neue"/>
              </a:rPr>
              <a:t>Employer locations, employees, and size bands</a:t>
            </a:r>
          </a:p>
        </p:txBody>
      </p:sp>
      <p:sp>
        <p:nvSpPr>
          <p:cNvPr id="6" name="">
            <a:extLst xmlns:a="http://schemas.openxmlformats.org/drawingml/2006/main">
              <a:ext uri="{FF2B5EF4-FFF2-40B4-BE49-F238E27FC236}">
                <a16:creationId xmlns:a16="http://schemas.microsoft.com/office/drawing/2014/main" id="{BF152115-8040-4EB0-9A13-E6370FDF62A0}"/>
              </a:ext>
            </a:extLst>
          </p:cNvPr>
          <p:cNvSpPr>
            <a:spLocks xmlns:a="http://schemas.openxmlformats.org/drawingml/2006/main" noGrp="1"/>
          </p:cNvSpPr>
          <p:nvPr/>
        </p:nvSpPr>
        <p:spPr>
          <a:xfrm xmlns:a="http://schemas.openxmlformats.org/drawingml/2006/main">
            <a:off x="6324600" y="1743075"/>
            <a:ext cx="5095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183153"/>
                </a:solidFill>
                <a:latin typeface="Helvetica Neue"/>
                <a:ea typeface="Helvetica Neue"/>
                <a:cs typeface="Helvetica Neue"/>
              </a:defRPr>
            </a:pPr>
            <a:r>
              <a:rPr sz="2025" b="1">
                <a:solidFill>
                  <a:srgbClr val="183153"/>
                </a:solidFill>
                <a:latin typeface="Helvetica Neue"/>
                <a:ea typeface="Helvetica Neue"/>
                <a:cs typeface="Helvetica Neue"/>
              </a:rPr>
              <a:t>BLS OEWS · May 2025</a:t>
            </a:r>
          </a:p>
        </p:txBody>
      </p:sp>
      <p:sp>
        <p:nvSpPr>
          <p:cNvPr id="7" name="">
            <a:extLst xmlns:a="http://schemas.openxmlformats.org/drawingml/2006/main">
              <a:ext uri="{FF2B5EF4-FFF2-40B4-BE49-F238E27FC236}">
                <a16:creationId xmlns:a16="http://schemas.microsoft.com/office/drawing/2014/main" id="{EF748D46-ABF3-447B-AD49-67C69914D169}"/>
              </a:ext>
            </a:extLst>
          </p:cNvPr>
          <p:cNvSpPr>
            <a:spLocks xmlns:a="http://schemas.openxmlformats.org/drawingml/2006/main" noGrp="1"/>
          </p:cNvSpPr>
          <p:nvPr/>
        </p:nvSpPr>
        <p:spPr>
          <a:xfrm xmlns:a="http://schemas.openxmlformats.org/drawingml/2006/main">
            <a:off x="6324600" y="2247900"/>
            <a:ext cx="5095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172536"/>
                </a:solidFill>
                <a:latin typeface="Helvetica Neue"/>
                <a:ea typeface="Helvetica Neue"/>
                <a:cs typeface="Helvetica Neue"/>
              </a:defRPr>
            </a:pPr>
            <a:r>
              <a:rPr sz="1725" b="0">
                <a:solidFill>
                  <a:srgbClr val="172536"/>
                </a:solidFill>
                <a:latin typeface="Helvetica Neue"/>
                <a:ea typeface="Helvetica Neue"/>
                <a:cs typeface="Helvetica Neue"/>
              </a:rPr>
              <a:t>Office/admin employment and annual mean wage</a:t>
            </a:r>
          </a:p>
        </p:txBody>
      </p:sp>
      <p:sp>
        <p:nvSpPr>
          <p:cNvPr id="8" name="">
            <a:extLst xmlns:a="http://schemas.openxmlformats.org/drawingml/2006/main">
              <a:ext uri="{FF2B5EF4-FFF2-40B4-BE49-F238E27FC236}">
                <a16:creationId xmlns:a16="http://schemas.microsoft.com/office/drawing/2014/main" id="{5274544D-AAB6-4C0E-AAF9-7A3539AF259C}"/>
              </a:ext>
            </a:extLst>
          </p:cNvPr>
          <p:cNvSpPr>
            <a:spLocks xmlns:a="http://schemas.openxmlformats.org/drawingml/2006/main" noGrp="1"/>
          </p:cNvSpPr>
          <p:nvPr/>
        </p:nvSpPr>
        <p:spPr>
          <a:xfrm xmlns:a="http://schemas.openxmlformats.org/drawingml/2006/main">
            <a:off x="714375" y="331470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007E87"/>
                </a:solidFill>
                <a:latin typeface="Helvetica Neue"/>
                <a:ea typeface="Helvetica Neue"/>
                <a:cs typeface="Helvetica Neue"/>
              </a:defRPr>
            </a:pPr>
            <a:r>
              <a:rPr sz="1725" b="1">
                <a:solidFill>
                  <a:srgbClr val="007E87"/>
                </a:solidFill>
                <a:latin typeface="Helvetica Neue"/>
                <a:ea typeface="Helvetica Neue"/>
                <a:cs typeface="Helvetica Neue"/>
              </a:rPr>
              <a:t>Our screen uses three visible dimensions:</a:t>
            </a:r>
          </a:p>
        </p:txBody>
      </p:sp>
      <p:sp>
        <p:nvSpPr>
          <p:cNvPr id="9" name="">
            <a:extLst xmlns:a="http://schemas.openxmlformats.org/drawingml/2006/main">
              <a:ext uri="{FF2B5EF4-FFF2-40B4-BE49-F238E27FC236}">
                <a16:creationId xmlns:a16="http://schemas.microsoft.com/office/drawing/2014/main" id="{D6B18D6E-F6C0-4FF3-9977-38378CE85F60}"/>
              </a:ext>
            </a:extLst>
          </p:cNvPr>
          <p:cNvSpPr>
            <a:spLocks xmlns:a="http://schemas.openxmlformats.org/drawingml/2006/main" noGrp="1"/>
          </p:cNvSpPr>
          <p:nvPr/>
        </p:nvSpPr>
        <p:spPr>
          <a:xfrm xmlns:a="http://schemas.openxmlformats.org/drawingml/2006/main">
            <a:off x="714375" y="3819525"/>
            <a:ext cx="10572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172536"/>
                </a:solidFill>
                <a:latin typeface="Helvetica Neue"/>
                <a:ea typeface="Helvetica Neue"/>
                <a:cs typeface="Helvetica Neue"/>
              </a:defRPr>
            </a:pPr>
            <a:r>
              <a:rPr sz="1650" b="0">
                <a:solidFill>
                  <a:srgbClr val="172536"/>
                </a:solidFill>
                <a:latin typeface="Helvetica Neue"/>
                <a:ea typeface="Helvetica Neue"/>
                <a:cs typeface="Helvetica Neue"/>
              </a:rPr>
              <a:t>Small-location share     Admin-payroll proxy per location     Number of small locations</a:t>
            </a:r>
          </a:p>
        </p:txBody>
      </p:sp>
      <p:sp>
        <p:nvSpPr>
          <p:cNvPr id="10" name="">
            <a:extLst xmlns:a="http://schemas.openxmlformats.org/drawingml/2006/main">
              <a:ext uri="{FF2B5EF4-FFF2-40B4-BE49-F238E27FC236}">
                <a16:creationId xmlns:a16="http://schemas.microsoft.com/office/drawing/2014/main" id="{64E3C520-E586-4662-BF18-33627A284800}"/>
              </a:ext>
            </a:extLst>
          </p:cNvPr>
          <p:cNvSpPr>
            <a:spLocks xmlns:a="http://schemas.openxmlformats.org/drawingml/2006/main" noGrp="1"/>
          </p:cNvSpPr>
          <p:nvPr/>
        </p:nvSpPr>
        <p:spPr>
          <a:xfrm xmlns:a="http://schemas.openxmlformats.org/drawingml/2006/main">
            <a:off x="714375" y="4352925"/>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07284"/>
                </a:solidFill>
                <a:latin typeface="Helvetica Neue"/>
                <a:ea typeface="Helvetica Neue"/>
                <a:cs typeface="Helvetica Neue"/>
              </a:defRPr>
            </a:pPr>
            <a:r>
              <a:rPr sz="1275" b="0">
                <a:solidFill>
                  <a:srgbClr val="607284"/>
                </a:solidFill>
                <a:latin typeface="Helvetica Neue"/>
                <a:ea typeface="Helvetica Neue"/>
                <a:cs typeface="Helvetica Neue"/>
              </a:rPr>
              <a:t>Proxy = average employees/location × admin employment share × admin mean wage</a:t>
            </a:r>
          </a:p>
        </p:txBody>
      </p:sp>
      <p:sp>
        <p:nvSpPr>
          <p:cNvPr id="11" name="">
            <a:extLst xmlns:a="http://schemas.openxmlformats.org/drawingml/2006/main">
              <a:ext uri="{FF2B5EF4-FFF2-40B4-BE49-F238E27FC236}">
                <a16:creationId xmlns:a16="http://schemas.microsoft.com/office/drawing/2014/main" id="{50828E6A-AEE6-4573-B79B-9E3433652867}"/>
              </a:ext>
            </a:extLst>
          </p:cNvPr>
          <p:cNvSpPr>
            <a:spLocks xmlns:a="http://schemas.openxmlformats.org/drawingml/2006/main" noGrp="1"/>
          </p:cNvSpPr>
          <p:nvPr/>
        </p:nvSpPr>
        <p:spPr>
          <a:xfrm xmlns:a="http://schemas.openxmlformats.org/drawingml/2006/main">
            <a:off x="714375" y="5010150"/>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607284"/>
                </a:solidFill>
                <a:latin typeface="Helvetica Neue"/>
                <a:ea typeface="Helvetica Neue"/>
                <a:cs typeface="Helvetica Neue"/>
              </a:defRPr>
            </a:pPr>
            <a:r>
              <a:rPr sz="1425" b="0">
                <a:solidFill>
                  <a:srgbClr val="607284"/>
                </a:solidFill>
                <a:latin typeface="Helvetica Neue"/>
                <a:ea typeface="Helvetica Neue"/>
                <a:cs typeface="Helvetica Neue"/>
              </a:rPr>
              <a:t>We checked the 2017-to-2022 NAICS concordance before joining industry estimates.</a:t>
            </a:r>
          </a:p>
        </p:txBody>
      </p:sp>
      <p:sp>
        <p:nvSpPr>
          <p:cNvPr id="12" name="">
            <a:extLst xmlns:a="http://schemas.openxmlformats.org/drawingml/2006/main">
              <a:ext uri="{FF2B5EF4-FFF2-40B4-BE49-F238E27FC236}">
                <a16:creationId xmlns:a16="http://schemas.microsoft.com/office/drawing/2014/main" id="{3392EC8E-C06B-4615-A89F-AAE458CD8A01}"/>
              </a:ext>
            </a:extLst>
          </p:cNvPr>
          <p:cNvSpPr>
            <a:spLocks xmlns:a="http://schemas.openxmlformats.org/drawingml/2006/main" noGrp="1"/>
          </p:cNvSpPr>
          <p:nvPr/>
        </p:nvSpPr>
        <p:spPr>
          <a:xfrm xmlns:a="http://schemas.openxmlformats.org/drawingml/2006/main">
            <a:off x="685800" y="6124575"/>
            <a:ext cx="10144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60" b="0">
                <a:solidFill>
                  <a:srgbClr val="607284"/>
                </a:solidFill>
                <a:latin typeface="Helvetica Neue"/>
                <a:ea typeface="Helvetica Neue"/>
                <a:cs typeface="Helvetica Neue"/>
              </a:defRPr>
            </a:pPr>
            <a:r>
              <a:rPr sz="960" b="0">
                <a:solidFill>
                  <a:srgbClr val="607284"/>
                </a:solidFill>
                <a:latin typeface="Helvetica Neue"/>
                <a:ea typeface="Helvetica Neue"/>
                <a:cs typeface="Helvetica Neue"/>
              </a:rPr>
              <a:t>Sources: U.S. Census Bureau 2023 CBP; BLS May 2025 OEWS; Census NAICS concordance.</a:t>
            </a:r>
          </a:p>
        </p:txBody>
      </p:sp>
    </p:spTree>
    <p:extLst>
      <p:ext uri="{BB962C8B-B14F-4D97-AF65-F5344CB8AC3E}">
        <p14:creationId xmlns:p14="http://schemas.microsoft.com/office/powerpoint/2010/main" val="73559008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749F35E-E1B6-47B9-ACE2-BAB7BBA46679}"/>
              </a:ext>
            </a:extLst>
          </p:cNvPr>
          <p:cNvSpPr>
            <a:spLocks xmlns:a="http://schemas.openxmlformats.org/drawingml/2006/main" noGrp="1"/>
          </p:cNvSpPr>
          <p:nvPr/>
        </p:nvSpPr>
        <p:spPr>
          <a:xfrm xmlns:a="http://schemas.openxmlformats.org/drawingml/2006/main">
            <a:off x="685800" y="266700"/>
            <a:ext cx="809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007E87"/>
                </a:solidFill>
                <a:latin typeface="Helvetica Neue"/>
                <a:ea typeface="Helvetica Neue"/>
                <a:cs typeface="Helvetica Neue"/>
              </a:defRPr>
            </a:pPr>
            <a:r>
              <a:rPr sz="1125" b="1">
                <a:solidFill>
                  <a:srgbClr val="007E87"/>
                </a:solidFill>
                <a:latin typeface="Helvetica Neue"/>
                <a:ea typeface="Helvetica Neue"/>
                <a:cs typeface="Helvetica Neue"/>
              </a:rPr>
              <a:t>AIPI 510 · MODULE PROJECT 1</a:t>
            </a:r>
          </a:p>
        </p:txBody>
      </p:sp>
      <p:sp>
        <p:nvSpPr>
          <p:cNvPr id="2" name="">
            <a:extLst xmlns:a="http://schemas.openxmlformats.org/drawingml/2006/main">
              <a:ext uri="{FF2B5EF4-FFF2-40B4-BE49-F238E27FC236}">
                <a16:creationId xmlns:a16="http://schemas.microsoft.com/office/drawing/2014/main" id="{A1843B5D-C6FA-41BC-A8B7-F5C614B39413}"/>
              </a:ext>
            </a:extLst>
          </p:cNvPr>
          <p:cNvSpPr>
            <a:spLocks xmlns:a="http://schemas.openxmlformats.org/drawingml/2006/main" noGrp="1"/>
          </p:cNvSpPr>
          <p:nvPr/>
        </p:nvSpPr>
        <p:spPr>
          <a:xfrm xmlns:a="http://schemas.openxmlformats.org/drawingml/2006/main">
            <a:off x="685800" y="638175"/>
            <a:ext cx="10810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183153"/>
                </a:solidFill>
                <a:latin typeface="Helvetica Neue"/>
                <a:ea typeface="Helvetica Neue"/>
                <a:cs typeface="Helvetica Neue"/>
              </a:defRPr>
            </a:pPr>
            <a:r>
              <a:rPr sz="2700" b="1">
                <a:solidFill>
                  <a:srgbClr val="183153"/>
                </a:solidFill>
                <a:latin typeface="Helvetica Neue"/>
                <a:ea typeface="Helvetica Neue"/>
                <a:cs typeface="Helvetica Neue"/>
              </a:rPr>
              <a:t>Small locations are common, but not equally so</a:t>
            </a:r>
          </a:p>
        </p:txBody>
      </p:sp>
      <p:sp>
        <p:nvSpPr>
          <p:cNvPr id="3" name="">
            <a:extLst xmlns:a="http://schemas.openxmlformats.org/drawingml/2006/main">
              <a:ext uri="{FF2B5EF4-FFF2-40B4-BE49-F238E27FC236}">
                <a16:creationId xmlns:a16="http://schemas.microsoft.com/office/drawing/2014/main" id="{79341206-56CB-4014-9355-820A08681E16}"/>
              </a:ext>
            </a:extLst>
          </p:cNvPr>
          <p:cNvSpPr>
            <a:spLocks xmlns:a="http://schemas.openxmlformats.org/drawingml/2006/main" noGrp="1"/>
          </p:cNvSpPr>
          <p:nvPr/>
        </p:nvSpPr>
        <p:spPr>
          <a:xfrm xmlns:a="http://schemas.openxmlformats.org/drawingml/2006/main">
            <a:off x="10934700" y="6343650"/>
            <a:ext cx="666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0">
                <a:solidFill>
                  <a:srgbClr val="607284"/>
                </a:solidFill>
                <a:latin typeface="Helvetica Neue"/>
                <a:ea typeface="Helvetica Neue"/>
                <a:cs typeface="Helvetica Neue"/>
              </a:defRPr>
            </a:pPr>
            <a:r>
              <a:rPr sz="1050" b="0">
                <a:solidFill>
                  <a:srgbClr val="607284"/>
                </a:solidFill>
                <a:latin typeface="Helvetica Neue"/>
                <a:ea typeface="Helvetica Neue"/>
                <a:cs typeface="Helvetica Neue"/>
              </a:rPr>
              <a:t>3 / 7</a:t>
            </a:r>
          </a:p>
        </p:txBody>
      </p:sp>
      <p:graphicFrame>
        <p:nvGraphicFramePr>
          <p:cNvPr id="9" name="Chart"/>
          <p:cNvGraphicFramePr/>
          <p:nvPr/>
        </p:nvGraphicFramePr>
        <p:xfrm>
          <a:off xmlns:a="http://schemas.openxmlformats.org/drawingml/2006/main" x="723900" y="1447800"/>
          <a:ext xmlns:a="http://schemas.openxmlformats.org/drawingml/2006/main" cx="10715625" cy="4429125"/>
        </p:xfrm>
        <a:graphic xmlns:a="http://schemas.openxmlformats.org/drawingml/2006/main">
          <a:graphicData uri="http://schemas.openxmlformats.org/drawingml/2006/chart">
            <c:chart xmlns:r="http://schemas.openxmlformats.org/officeDocument/2006/relationships" xmlns:c="http://schemas.openxmlformats.org/drawingml/2006/chart" r:id="Re182192f0c984835"/>
          </a:graphicData>
        </a:graphic>
      </p:graphicFrame>
      <p:sp>
        <p:nvSpPr>
          <p:cNvPr id="5" name="">
            <a:extLst xmlns:a="http://schemas.openxmlformats.org/drawingml/2006/main">
              <a:ext uri="{FF2B5EF4-FFF2-40B4-BE49-F238E27FC236}">
                <a16:creationId xmlns:a16="http://schemas.microsoft.com/office/drawing/2014/main" id="{997D6A44-FC22-4550-8AE7-552DE4D397AB}"/>
              </a:ext>
            </a:extLst>
          </p:cNvPr>
          <p:cNvSpPr>
            <a:spLocks xmlns:a="http://schemas.openxmlformats.org/drawingml/2006/main" noGrp="1"/>
          </p:cNvSpPr>
          <p:nvPr/>
        </p:nvSpPr>
        <p:spPr>
          <a:xfrm xmlns:a="http://schemas.openxmlformats.org/drawingml/2006/main">
            <a:off x="685800" y="6124575"/>
            <a:ext cx="10144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60" b="0">
                <a:solidFill>
                  <a:srgbClr val="607284"/>
                </a:solidFill>
                <a:latin typeface="Helvetica Neue"/>
                <a:ea typeface="Helvetica Neue"/>
                <a:cs typeface="Helvetica Neue"/>
              </a:defRPr>
            </a:pPr>
            <a:r>
              <a:rPr sz="960" b="0">
                <a:solidFill>
                  <a:srgbClr val="607284"/>
                </a:solidFill>
                <a:latin typeface="Helvetica Neue"/>
                <a:ea typeface="Helvetica Neue"/>
                <a:cs typeface="Helvetica Neue"/>
              </a:rPr>
              <a:t>2023 CBP employer establishments. Fewer than 20 employees describes a location, not necessarily an independent firm.</a:t>
            </a:r>
          </a:p>
        </p:txBody>
      </p:sp>
    </p:spTree>
    <p:extLst>
      <p:ext uri="{BB962C8B-B14F-4D97-AF65-F5344CB8AC3E}">
        <p14:creationId xmlns:p14="http://schemas.microsoft.com/office/powerpoint/2010/main" val="181291540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91469ED-1418-46D6-89B8-3FEE086C4BA4}"/>
              </a:ext>
            </a:extLst>
          </p:cNvPr>
          <p:cNvSpPr>
            <a:spLocks xmlns:a="http://schemas.openxmlformats.org/drawingml/2006/main" noGrp="1"/>
          </p:cNvSpPr>
          <p:nvPr/>
        </p:nvSpPr>
        <p:spPr>
          <a:xfrm xmlns:a="http://schemas.openxmlformats.org/drawingml/2006/main">
            <a:off x="685800" y="266700"/>
            <a:ext cx="809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007E87"/>
                </a:solidFill>
                <a:latin typeface="Helvetica Neue"/>
                <a:ea typeface="Helvetica Neue"/>
                <a:cs typeface="Helvetica Neue"/>
              </a:defRPr>
            </a:pPr>
            <a:r>
              <a:rPr sz="1125" b="1">
                <a:solidFill>
                  <a:srgbClr val="007E87"/>
                </a:solidFill>
                <a:latin typeface="Helvetica Neue"/>
                <a:ea typeface="Helvetica Neue"/>
                <a:cs typeface="Helvetica Neue"/>
              </a:rPr>
              <a:t>AIPI 510 · MODULE PROJECT 1</a:t>
            </a:r>
          </a:p>
        </p:txBody>
      </p:sp>
      <p:sp>
        <p:nvSpPr>
          <p:cNvPr id="2" name="">
            <a:extLst xmlns:a="http://schemas.openxmlformats.org/drawingml/2006/main">
              <a:ext uri="{FF2B5EF4-FFF2-40B4-BE49-F238E27FC236}">
                <a16:creationId xmlns:a16="http://schemas.microsoft.com/office/drawing/2014/main" id="{8253306E-F121-4FB5-81D9-70BCCC71A684}"/>
              </a:ext>
            </a:extLst>
          </p:cNvPr>
          <p:cNvSpPr>
            <a:spLocks xmlns:a="http://schemas.openxmlformats.org/drawingml/2006/main" noGrp="1"/>
          </p:cNvSpPr>
          <p:nvPr/>
        </p:nvSpPr>
        <p:spPr>
          <a:xfrm xmlns:a="http://schemas.openxmlformats.org/drawingml/2006/main">
            <a:off x="685800" y="638175"/>
            <a:ext cx="10810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183153"/>
                </a:solidFill>
                <a:latin typeface="Helvetica Neue"/>
                <a:ea typeface="Helvetica Neue"/>
                <a:cs typeface="Helvetica Neue"/>
              </a:defRPr>
            </a:pPr>
            <a:r>
              <a:rPr sz="2700" b="1">
                <a:solidFill>
                  <a:srgbClr val="183153"/>
                </a:solidFill>
                <a:latin typeface="Helvetica Neue"/>
                <a:ea typeface="Helvetica Neue"/>
                <a:cs typeface="Helvetica Neue"/>
              </a:rPr>
              <a:t>Office work varies much more than location size</a:t>
            </a:r>
          </a:p>
        </p:txBody>
      </p:sp>
      <p:sp>
        <p:nvSpPr>
          <p:cNvPr id="3" name="">
            <a:extLst xmlns:a="http://schemas.openxmlformats.org/drawingml/2006/main">
              <a:ext uri="{FF2B5EF4-FFF2-40B4-BE49-F238E27FC236}">
                <a16:creationId xmlns:a16="http://schemas.microsoft.com/office/drawing/2014/main" id="{E34714D7-1546-4B1B-83FD-7D1701587CFC}"/>
              </a:ext>
            </a:extLst>
          </p:cNvPr>
          <p:cNvSpPr>
            <a:spLocks xmlns:a="http://schemas.openxmlformats.org/drawingml/2006/main" noGrp="1"/>
          </p:cNvSpPr>
          <p:nvPr/>
        </p:nvSpPr>
        <p:spPr>
          <a:xfrm xmlns:a="http://schemas.openxmlformats.org/drawingml/2006/main">
            <a:off x="10934700" y="6343650"/>
            <a:ext cx="666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0">
                <a:solidFill>
                  <a:srgbClr val="607284"/>
                </a:solidFill>
                <a:latin typeface="Helvetica Neue"/>
                <a:ea typeface="Helvetica Neue"/>
                <a:cs typeface="Helvetica Neue"/>
              </a:defRPr>
            </a:pPr>
            <a:r>
              <a:rPr sz="1050" b="0">
                <a:solidFill>
                  <a:srgbClr val="607284"/>
                </a:solidFill>
                <a:latin typeface="Helvetica Neue"/>
                <a:ea typeface="Helvetica Neue"/>
                <a:cs typeface="Helvetica Neue"/>
              </a:rPr>
              <a:t>4 / 7</a:t>
            </a:r>
          </a:p>
        </p:txBody>
      </p:sp>
      <p:graphicFrame>
        <p:nvGraphicFramePr>
          <p:cNvPr id="10" name="Chart"/>
          <p:cNvGraphicFramePr/>
          <p:nvPr/>
        </p:nvGraphicFramePr>
        <p:xfrm>
          <a:off xmlns:a="http://schemas.openxmlformats.org/drawingml/2006/main" x="742950" y="1666875"/>
          <a:ext xmlns:a="http://schemas.openxmlformats.org/drawingml/2006/main" cx="10048875" cy="4000500"/>
        </p:xfrm>
        <a:graphic xmlns:a="http://schemas.openxmlformats.org/drawingml/2006/main">
          <a:graphicData uri="http://schemas.openxmlformats.org/drawingml/2006/chart">
            <c:chart xmlns:r="http://schemas.openxmlformats.org/officeDocument/2006/relationships" xmlns:c="http://schemas.openxmlformats.org/drawingml/2006/chart" r:id="Rf8b195f4f3b94fd3"/>
          </a:graphicData>
        </a:graphic>
      </p:graphicFrame>
      <p:sp>
        <p:nvSpPr>
          <p:cNvPr id="5" name="">
            <a:extLst xmlns:a="http://schemas.openxmlformats.org/drawingml/2006/main">
              <a:ext uri="{FF2B5EF4-FFF2-40B4-BE49-F238E27FC236}">
                <a16:creationId xmlns:a16="http://schemas.microsoft.com/office/drawing/2014/main" id="{451A2E6D-2D2E-43D1-A166-0F84B2934BC9}"/>
              </a:ext>
            </a:extLst>
          </p:cNvPr>
          <p:cNvSpPr>
            <a:spLocks xmlns:a="http://schemas.openxmlformats.org/drawingml/2006/main" noGrp="1"/>
          </p:cNvSpPr>
          <p:nvPr/>
        </p:nvSpPr>
        <p:spPr>
          <a:xfrm xmlns:a="http://schemas.openxmlformats.org/drawingml/2006/main">
            <a:off x="752475" y="5657850"/>
            <a:ext cx="971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0">
                <a:solidFill>
                  <a:srgbClr val="607284"/>
                </a:solidFill>
                <a:latin typeface="Helvetica Neue"/>
                <a:ea typeface="Helvetica Neue"/>
                <a:cs typeface="Helvetica Neue"/>
              </a:defRPr>
            </a:pPr>
            <a:r>
              <a:rPr sz="1125" b="0">
                <a:solidFill>
                  <a:srgbClr val="607284"/>
                </a:solidFill>
                <a:latin typeface="Helvetica Neue"/>
                <a:ea typeface="Helvetica Neue"/>
                <a:cs typeface="Helvetica Neue"/>
              </a:rPr>
              <a:t>Selected industries shown; full 12-industry chart is in the article.</a:t>
            </a:r>
          </a:p>
        </p:txBody>
      </p:sp>
      <p:sp>
        <p:nvSpPr>
          <p:cNvPr id="6" name="">
            <a:extLst xmlns:a="http://schemas.openxmlformats.org/drawingml/2006/main">
              <a:ext uri="{FF2B5EF4-FFF2-40B4-BE49-F238E27FC236}">
                <a16:creationId xmlns:a16="http://schemas.microsoft.com/office/drawing/2014/main" id="{88E62708-ADE9-4642-BFF9-181FD6EA1628}"/>
              </a:ext>
            </a:extLst>
          </p:cNvPr>
          <p:cNvSpPr>
            <a:spLocks xmlns:a="http://schemas.openxmlformats.org/drawingml/2006/main" noGrp="1"/>
          </p:cNvSpPr>
          <p:nvPr/>
        </p:nvSpPr>
        <p:spPr>
          <a:xfrm xmlns:a="http://schemas.openxmlformats.org/drawingml/2006/main">
            <a:off x="685800" y="6124575"/>
            <a:ext cx="10144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60" b="0">
                <a:solidFill>
                  <a:srgbClr val="607284"/>
                </a:solidFill>
                <a:latin typeface="Helvetica Neue"/>
                <a:ea typeface="Helvetica Neue"/>
                <a:cs typeface="Helvetica Neue"/>
              </a:defRPr>
            </a:pPr>
            <a:r>
              <a:rPr sz="960" b="0">
                <a:solidFill>
                  <a:srgbClr val="607284"/>
                </a:solidFill>
                <a:latin typeface="Helvetica Neue"/>
                <a:ea typeface="Helvetica Neue"/>
                <a:cs typeface="Helvetica Neue"/>
              </a:rPr>
              <a:t>BLS May 2025 OEWS. Share = SOC 43-0000 employment ÷ all-occupation employment in the same industry.</a:t>
            </a:r>
          </a:p>
        </p:txBody>
      </p:sp>
    </p:spTree>
    <p:extLst>
      <p:ext uri="{BB962C8B-B14F-4D97-AF65-F5344CB8AC3E}">
        <p14:creationId xmlns:p14="http://schemas.microsoft.com/office/powerpoint/2010/main" val="16762434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4114982-B562-4A81-8337-69C130A2D853}"/>
              </a:ext>
            </a:extLst>
          </p:cNvPr>
          <p:cNvSpPr>
            <a:spLocks xmlns:a="http://schemas.openxmlformats.org/drawingml/2006/main" noGrp="1"/>
          </p:cNvSpPr>
          <p:nvPr/>
        </p:nvSpPr>
        <p:spPr>
          <a:xfrm xmlns:a="http://schemas.openxmlformats.org/drawingml/2006/main">
            <a:off x="685800" y="266700"/>
            <a:ext cx="809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007E87"/>
                </a:solidFill>
                <a:latin typeface="Helvetica Neue"/>
                <a:ea typeface="Helvetica Neue"/>
                <a:cs typeface="Helvetica Neue"/>
              </a:defRPr>
            </a:pPr>
            <a:r>
              <a:rPr sz="1125" b="1">
                <a:solidFill>
                  <a:srgbClr val="007E87"/>
                </a:solidFill>
                <a:latin typeface="Helvetica Neue"/>
                <a:ea typeface="Helvetica Neue"/>
                <a:cs typeface="Helvetica Neue"/>
              </a:rPr>
              <a:t>AIPI 510 · MODULE PROJECT 1</a:t>
            </a:r>
          </a:p>
        </p:txBody>
      </p:sp>
      <p:sp>
        <p:nvSpPr>
          <p:cNvPr id="2" name="">
            <a:extLst xmlns:a="http://schemas.openxmlformats.org/drawingml/2006/main">
              <a:ext uri="{FF2B5EF4-FFF2-40B4-BE49-F238E27FC236}">
                <a16:creationId xmlns:a16="http://schemas.microsoft.com/office/drawing/2014/main" id="{F5397393-3D9F-4CA8-9AFD-5B39A31EAF12}"/>
              </a:ext>
            </a:extLst>
          </p:cNvPr>
          <p:cNvSpPr>
            <a:spLocks xmlns:a="http://schemas.openxmlformats.org/drawingml/2006/main" noGrp="1"/>
          </p:cNvSpPr>
          <p:nvPr/>
        </p:nvSpPr>
        <p:spPr>
          <a:xfrm xmlns:a="http://schemas.openxmlformats.org/drawingml/2006/main">
            <a:off x="685800" y="638175"/>
            <a:ext cx="10810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183153"/>
                </a:solidFill>
                <a:latin typeface="Helvetica Neue"/>
                <a:ea typeface="Helvetica Neue"/>
                <a:cs typeface="Helvetica Neue"/>
              </a:defRPr>
            </a:pPr>
            <a:r>
              <a:rPr sz="2700" b="1">
                <a:solidFill>
                  <a:srgbClr val="183153"/>
                </a:solidFill>
                <a:latin typeface="Helvetica Neue"/>
                <a:ea typeface="Helvetica Neue"/>
                <a:cs typeface="Helvetica Neue"/>
              </a:rPr>
              <a:t>Three large markets combine depth and office work</a:t>
            </a:r>
          </a:p>
        </p:txBody>
      </p:sp>
      <p:sp>
        <p:nvSpPr>
          <p:cNvPr id="3" name="">
            <a:extLst xmlns:a="http://schemas.openxmlformats.org/drawingml/2006/main">
              <a:ext uri="{FF2B5EF4-FFF2-40B4-BE49-F238E27FC236}">
                <a16:creationId xmlns:a16="http://schemas.microsoft.com/office/drawing/2014/main" id="{FEF2A4D8-E228-4F5A-90C3-DCF486183DEA}"/>
              </a:ext>
            </a:extLst>
          </p:cNvPr>
          <p:cNvSpPr>
            <a:spLocks xmlns:a="http://schemas.openxmlformats.org/drawingml/2006/main" noGrp="1"/>
          </p:cNvSpPr>
          <p:nvPr/>
        </p:nvSpPr>
        <p:spPr>
          <a:xfrm xmlns:a="http://schemas.openxmlformats.org/drawingml/2006/main">
            <a:off x="10934700" y="6343650"/>
            <a:ext cx="666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0">
                <a:solidFill>
                  <a:srgbClr val="607284"/>
                </a:solidFill>
                <a:latin typeface="Helvetica Neue"/>
                <a:ea typeface="Helvetica Neue"/>
                <a:cs typeface="Helvetica Neue"/>
              </a:defRPr>
            </a:pPr>
            <a:r>
              <a:rPr sz="1050" b="0">
                <a:solidFill>
                  <a:srgbClr val="607284"/>
                </a:solidFill>
                <a:latin typeface="Helvetica Neue"/>
                <a:ea typeface="Helvetica Neue"/>
                <a:cs typeface="Helvetica Neue"/>
              </a:rPr>
              <a:t>5 / 7</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4ef6eed3388d4587"/>
          <a:stretch xmlns:a="http://schemas.openxmlformats.org/drawingml/2006/main"/>
        </p:blipFill>
        <p:spPr>
          <a:xfrm xmlns:a="http://schemas.openxmlformats.org/drawingml/2006/main">
            <a:off x="685800" y="1579203"/>
            <a:ext cx="10668000" cy="4232994"/>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667A5A4C-15CD-4F85-8D60-78A6922A5CCB}"/>
              </a:ext>
            </a:extLst>
          </p:cNvPr>
          <p:cNvSpPr>
            <a:spLocks xmlns:a="http://schemas.openxmlformats.org/drawingml/2006/main" noGrp="1"/>
          </p:cNvSpPr>
          <p:nvPr/>
        </p:nvSpPr>
        <p:spPr>
          <a:xfrm xmlns:a="http://schemas.openxmlformats.org/drawingml/2006/main">
            <a:off x="685800" y="6124575"/>
            <a:ext cx="10144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60" b="0">
                <a:solidFill>
                  <a:srgbClr val="607284"/>
                </a:solidFill>
                <a:latin typeface="Helvetica Neue"/>
                <a:ea typeface="Helvetica Neue"/>
                <a:cs typeface="Helvetica Neue"/>
              </a:defRPr>
            </a:pPr>
            <a:r>
              <a:rPr sz="960" b="0">
                <a:solidFill>
                  <a:srgbClr val="607284"/>
                </a:solidFill>
                <a:latin typeface="Helvetica Neue"/>
                <a:ea typeface="Helvetica Neue"/>
                <a:cs typeface="Helvetica Neue"/>
              </a:rPr>
              <a:t>Bubble area = number of small employer locations. Payroll proxy is directional and is not observed spending or savings.</a:t>
            </a:r>
          </a:p>
        </p:txBody>
      </p:sp>
    </p:spTree>
    <p:extLst>
      <p:ext uri="{BB962C8B-B14F-4D97-AF65-F5344CB8AC3E}">
        <p14:creationId xmlns:p14="http://schemas.microsoft.com/office/powerpoint/2010/main" val="79604085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1B99412-F4DE-41DF-989D-0524C2AC9255}"/>
              </a:ext>
            </a:extLst>
          </p:cNvPr>
          <p:cNvSpPr>
            <a:spLocks xmlns:a="http://schemas.openxmlformats.org/drawingml/2006/main" noGrp="1"/>
          </p:cNvSpPr>
          <p:nvPr/>
        </p:nvSpPr>
        <p:spPr>
          <a:xfrm xmlns:a="http://schemas.openxmlformats.org/drawingml/2006/main">
            <a:off x="685800" y="266700"/>
            <a:ext cx="809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007E87"/>
                </a:solidFill>
                <a:latin typeface="Helvetica Neue"/>
                <a:ea typeface="Helvetica Neue"/>
                <a:cs typeface="Helvetica Neue"/>
              </a:defRPr>
            </a:pPr>
            <a:r>
              <a:rPr sz="1125" b="1">
                <a:solidFill>
                  <a:srgbClr val="007E87"/>
                </a:solidFill>
                <a:latin typeface="Helvetica Neue"/>
                <a:ea typeface="Helvetica Neue"/>
                <a:cs typeface="Helvetica Neue"/>
              </a:rPr>
              <a:t>AIPI 510 · MODULE PROJECT 1</a:t>
            </a:r>
          </a:p>
        </p:txBody>
      </p:sp>
      <p:sp>
        <p:nvSpPr>
          <p:cNvPr id="2" name="">
            <a:extLst xmlns:a="http://schemas.openxmlformats.org/drawingml/2006/main">
              <a:ext uri="{FF2B5EF4-FFF2-40B4-BE49-F238E27FC236}">
                <a16:creationId xmlns:a16="http://schemas.microsoft.com/office/drawing/2014/main" id="{F7B659FB-6D7A-44AB-BE7A-468C1F0EFBD7}"/>
              </a:ext>
            </a:extLst>
          </p:cNvPr>
          <p:cNvSpPr>
            <a:spLocks xmlns:a="http://schemas.openxmlformats.org/drawingml/2006/main" noGrp="1"/>
          </p:cNvSpPr>
          <p:nvPr/>
        </p:nvSpPr>
        <p:spPr>
          <a:xfrm xmlns:a="http://schemas.openxmlformats.org/drawingml/2006/main">
            <a:off x="685800" y="638175"/>
            <a:ext cx="10810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183153"/>
                </a:solidFill>
                <a:latin typeface="Helvetica Neue"/>
                <a:ea typeface="Helvetica Neue"/>
                <a:cs typeface="Helvetica Neue"/>
              </a:defRPr>
            </a:pPr>
            <a:r>
              <a:rPr sz="2700" b="1">
                <a:solidFill>
                  <a:srgbClr val="183153"/>
                </a:solidFill>
                <a:latin typeface="Helvetica Neue"/>
                <a:ea typeface="Helvetica Neue"/>
                <a:cs typeface="Helvetica Neue"/>
              </a:rPr>
              <a:t>What this screen cannot answer</a:t>
            </a:r>
          </a:p>
        </p:txBody>
      </p:sp>
      <p:sp>
        <p:nvSpPr>
          <p:cNvPr id="3" name="">
            <a:extLst xmlns:a="http://schemas.openxmlformats.org/drawingml/2006/main">
              <a:ext uri="{FF2B5EF4-FFF2-40B4-BE49-F238E27FC236}">
                <a16:creationId xmlns:a16="http://schemas.microsoft.com/office/drawing/2014/main" id="{E61F547F-192E-4710-A22D-ACB44817646D}"/>
              </a:ext>
            </a:extLst>
          </p:cNvPr>
          <p:cNvSpPr>
            <a:spLocks xmlns:a="http://schemas.openxmlformats.org/drawingml/2006/main" noGrp="1"/>
          </p:cNvSpPr>
          <p:nvPr/>
        </p:nvSpPr>
        <p:spPr>
          <a:xfrm xmlns:a="http://schemas.openxmlformats.org/drawingml/2006/main">
            <a:off x="10934700" y="6343650"/>
            <a:ext cx="666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0">
                <a:solidFill>
                  <a:srgbClr val="607284"/>
                </a:solidFill>
                <a:latin typeface="Helvetica Neue"/>
                <a:ea typeface="Helvetica Neue"/>
                <a:cs typeface="Helvetica Neue"/>
              </a:defRPr>
            </a:pPr>
            <a:r>
              <a:rPr sz="1050" b="0">
                <a:solidFill>
                  <a:srgbClr val="607284"/>
                </a:solidFill>
                <a:latin typeface="Helvetica Neue"/>
                <a:ea typeface="Helvetica Neue"/>
                <a:cs typeface="Helvetica Neue"/>
              </a:rPr>
              <a:t>6 / 7</a:t>
            </a:r>
          </a:p>
        </p:txBody>
      </p:sp>
      <p:sp>
        <p:nvSpPr>
          <p:cNvPr id="4" name="">
            <a:extLst xmlns:a="http://schemas.openxmlformats.org/drawingml/2006/main">
              <a:ext uri="{FF2B5EF4-FFF2-40B4-BE49-F238E27FC236}">
                <a16:creationId xmlns:a16="http://schemas.microsoft.com/office/drawing/2014/main" id="{26E33DB5-A6A0-4701-A724-26B05AF32466}"/>
              </a:ext>
            </a:extLst>
          </p:cNvPr>
          <p:cNvSpPr>
            <a:spLocks xmlns:a="http://schemas.openxmlformats.org/drawingml/2006/main" noGrp="1"/>
          </p:cNvSpPr>
          <p:nvPr/>
        </p:nvSpPr>
        <p:spPr>
          <a:xfrm xmlns:a="http://schemas.openxmlformats.org/drawingml/2006/main">
            <a:off x="714375" y="1809750"/>
            <a:ext cx="66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007E87"/>
                </a:solidFill>
                <a:latin typeface="Helvetica Neue"/>
                <a:ea typeface="Helvetica Neue"/>
                <a:cs typeface="Helvetica Neue"/>
              </a:defRPr>
            </a:pPr>
            <a:r>
              <a:rPr sz="1725" b="1">
                <a:solidFill>
                  <a:srgbClr val="007E87"/>
                </a:solidFill>
                <a:latin typeface="Helvetica Neue"/>
                <a:ea typeface="Helvetica Neue"/>
                <a:cs typeface="Helvetica Neue"/>
              </a:rPr>
              <a:t>01</a:t>
            </a:r>
          </a:p>
        </p:txBody>
      </p:sp>
      <p:sp>
        <p:nvSpPr>
          <p:cNvPr id="5" name="">
            <a:extLst xmlns:a="http://schemas.openxmlformats.org/drawingml/2006/main">
              <a:ext uri="{FF2B5EF4-FFF2-40B4-BE49-F238E27FC236}">
                <a16:creationId xmlns:a16="http://schemas.microsoft.com/office/drawing/2014/main" id="{B1AEDA58-DE6C-466D-B30D-0A195292080D}"/>
              </a:ext>
            </a:extLst>
          </p:cNvPr>
          <p:cNvSpPr>
            <a:spLocks xmlns:a="http://schemas.openxmlformats.org/drawingml/2006/main" noGrp="1"/>
          </p:cNvSpPr>
          <p:nvPr/>
        </p:nvSpPr>
        <p:spPr>
          <a:xfrm xmlns:a="http://schemas.openxmlformats.org/drawingml/2006/main">
            <a:off x="1466850" y="1762125"/>
            <a:ext cx="1000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172536"/>
                </a:solidFill>
                <a:latin typeface="Helvetica Neue"/>
                <a:ea typeface="Helvetica Neue"/>
                <a:cs typeface="Helvetica Neue"/>
              </a:defRPr>
            </a:pPr>
            <a:r>
              <a:rPr sz="1725" b="0">
                <a:solidFill>
                  <a:srgbClr val="172536"/>
                </a:solidFill>
                <a:latin typeface="Helvetica Neue"/>
                <a:ea typeface="Helvetica Neue"/>
                <a:cs typeface="Helvetica Neue"/>
              </a:rPr>
              <a:t>A small location may belong to a large firm</a:t>
            </a:r>
          </a:p>
        </p:txBody>
      </p:sp>
      <p:sp>
        <p:nvSpPr>
          <p:cNvPr id="6" name="">
            <a:extLst xmlns:a="http://schemas.openxmlformats.org/drawingml/2006/main">
              <a:ext uri="{FF2B5EF4-FFF2-40B4-BE49-F238E27FC236}">
                <a16:creationId xmlns:a16="http://schemas.microsoft.com/office/drawing/2014/main" id="{546F50D1-6CC6-45F0-ABC9-CC37F74E9287}"/>
              </a:ext>
            </a:extLst>
          </p:cNvPr>
          <p:cNvSpPr>
            <a:spLocks xmlns:a="http://schemas.openxmlformats.org/drawingml/2006/main" noGrp="1"/>
          </p:cNvSpPr>
          <p:nvPr/>
        </p:nvSpPr>
        <p:spPr>
          <a:xfrm xmlns:a="http://schemas.openxmlformats.org/drawingml/2006/main">
            <a:off x="714375" y="2619375"/>
            <a:ext cx="66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007E87"/>
                </a:solidFill>
                <a:latin typeface="Helvetica Neue"/>
                <a:ea typeface="Helvetica Neue"/>
                <a:cs typeface="Helvetica Neue"/>
              </a:defRPr>
            </a:pPr>
            <a:r>
              <a:rPr sz="1725" b="1">
                <a:solidFill>
                  <a:srgbClr val="007E87"/>
                </a:solidFill>
                <a:latin typeface="Helvetica Neue"/>
                <a:ea typeface="Helvetica Neue"/>
                <a:cs typeface="Helvetica Neue"/>
              </a:rPr>
              <a:t>02</a:t>
            </a:r>
          </a:p>
        </p:txBody>
      </p:sp>
      <p:sp>
        <p:nvSpPr>
          <p:cNvPr id="7" name="">
            <a:extLst xmlns:a="http://schemas.openxmlformats.org/drawingml/2006/main">
              <a:ext uri="{FF2B5EF4-FFF2-40B4-BE49-F238E27FC236}">
                <a16:creationId xmlns:a16="http://schemas.microsoft.com/office/drawing/2014/main" id="{0B18A83B-8563-4795-B589-818BD63B05EB}"/>
              </a:ext>
            </a:extLst>
          </p:cNvPr>
          <p:cNvSpPr>
            <a:spLocks xmlns:a="http://schemas.openxmlformats.org/drawingml/2006/main" noGrp="1"/>
          </p:cNvSpPr>
          <p:nvPr/>
        </p:nvSpPr>
        <p:spPr>
          <a:xfrm xmlns:a="http://schemas.openxmlformats.org/drawingml/2006/main">
            <a:off x="1466850" y="2562225"/>
            <a:ext cx="10001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172536"/>
                </a:solidFill>
                <a:latin typeface="Helvetica Neue"/>
                <a:ea typeface="Helvetica Neue"/>
                <a:cs typeface="Helvetica Neue"/>
              </a:defRPr>
            </a:pPr>
            <a:r>
              <a:rPr sz="1725" b="0">
                <a:solidFill>
                  <a:srgbClr val="172536"/>
                </a:solidFill>
                <a:latin typeface="Helvetica Neue"/>
                <a:ea typeface="Helvetica Neue"/>
                <a:cs typeface="Helvetica Neue"/>
              </a:rPr>
              <a:t>2023 CBP counts and 2025 OEWS estimates differ in year and method</a:t>
            </a:r>
          </a:p>
        </p:txBody>
      </p:sp>
      <p:sp>
        <p:nvSpPr>
          <p:cNvPr id="8" name="">
            <a:extLst xmlns:a="http://schemas.openxmlformats.org/drawingml/2006/main">
              <a:ext uri="{FF2B5EF4-FFF2-40B4-BE49-F238E27FC236}">
                <a16:creationId xmlns:a16="http://schemas.microsoft.com/office/drawing/2014/main" id="{5254F204-F06B-4CFF-984B-DBCCE4404A1D}"/>
              </a:ext>
            </a:extLst>
          </p:cNvPr>
          <p:cNvSpPr>
            <a:spLocks xmlns:a="http://schemas.openxmlformats.org/drawingml/2006/main" noGrp="1"/>
          </p:cNvSpPr>
          <p:nvPr/>
        </p:nvSpPr>
        <p:spPr>
          <a:xfrm xmlns:a="http://schemas.openxmlformats.org/drawingml/2006/main">
            <a:off x="714375" y="3619500"/>
            <a:ext cx="66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007E87"/>
                </a:solidFill>
                <a:latin typeface="Helvetica Neue"/>
                <a:ea typeface="Helvetica Neue"/>
                <a:cs typeface="Helvetica Neue"/>
              </a:defRPr>
            </a:pPr>
            <a:r>
              <a:rPr sz="1725" b="1">
                <a:solidFill>
                  <a:srgbClr val="007E87"/>
                </a:solidFill>
                <a:latin typeface="Helvetica Neue"/>
                <a:ea typeface="Helvetica Neue"/>
                <a:cs typeface="Helvetica Neue"/>
              </a:rPr>
              <a:t>03</a:t>
            </a:r>
          </a:p>
        </p:txBody>
      </p:sp>
      <p:sp>
        <p:nvSpPr>
          <p:cNvPr id="9" name="">
            <a:extLst xmlns:a="http://schemas.openxmlformats.org/drawingml/2006/main">
              <a:ext uri="{FF2B5EF4-FFF2-40B4-BE49-F238E27FC236}">
                <a16:creationId xmlns:a16="http://schemas.microsoft.com/office/drawing/2014/main" id="{BC6FA62C-F771-4325-AB73-FD6BC179FC0C}"/>
              </a:ext>
            </a:extLst>
          </p:cNvPr>
          <p:cNvSpPr>
            <a:spLocks xmlns:a="http://schemas.openxmlformats.org/drawingml/2006/main" noGrp="1"/>
          </p:cNvSpPr>
          <p:nvPr/>
        </p:nvSpPr>
        <p:spPr>
          <a:xfrm xmlns:a="http://schemas.openxmlformats.org/drawingml/2006/main">
            <a:off x="1466850" y="3552825"/>
            <a:ext cx="10001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172536"/>
                </a:solidFill>
                <a:latin typeface="Helvetica Neue"/>
                <a:ea typeface="Helvetica Neue"/>
                <a:cs typeface="Helvetica Neue"/>
              </a:defRPr>
            </a:pPr>
            <a:r>
              <a:rPr sz="1725" b="0">
                <a:solidFill>
                  <a:srgbClr val="172536"/>
                </a:solidFill>
                <a:latin typeface="Helvetica Neue"/>
                <a:ea typeface="Helvetica Neue"/>
                <a:cs typeface="Helvetica Neue"/>
              </a:rPr>
              <a:t>Administrative work is not a measure of waste or automation potential</a:t>
            </a:r>
          </a:p>
        </p:txBody>
      </p:sp>
      <p:sp>
        <p:nvSpPr>
          <p:cNvPr id="10" name="">
            <a:extLst xmlns:a="http://schemas.openxmlformats.org/drawingml/2006/main">
              <a:ext uri="{FF2B5EF4-FFF2-40B4-BE49-F238E27FC236}">
                <a16:creationId xmlns:a16="http://schemas.microsoft.com/office/drawing/2014/main" id="{5009E94F-D1C6-408D-AD43-07AE950C32EE}"/>
              </a:ext>
            </a:extLst>
          </p:cNvPr>
          <p:cNvSpPr>
            <a:spLocks xmlns:a="http://schemas.openxmlformats.org/drawingml/2006/main" noGrp="1"/>
          </p:cNvSpPr>
          <p:nvPr/>
        </p:nvSpPr>
        <p:spPr>
          <a:xfrm xmlns:a="http://schemas.openxmlformats.org/drawingml/2006/main">
            <a:off x="714375" y="4629150"/>
            <a:ext cx="66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007E87"/>
                </a:solidFill>
                <a:latin typeface="Helvetica Neue"/>
                <a:ea typeface="Helvetica Neue"/>
                <a:cs typeface="Helvetica Neue"/>
              </a:defRPr>
            </a:pPr>
            <a:r>
              <a:rPr sz="1725" b="1">
                <a:solidFill>
                  <a:srgbClr val="007E87"/>
                </a:solidFill>
                <a:latin typeface="Helvetica Neue"/>
                <a:ea typeface="Helvetica Neue"/>
                <a:cs typeface="Helvetica Neue"/>
              </a:rPr>
              <a:t>04</a:t>
            </a:r>
          </a:p>
        </p:txBody>
      </p:sp>
      <p:sp>
        <p:nvSpPr>
          <p:cNvPr id="11" name="">
            <a:extLst xmlns:a="http://schemas.openxmlformats.org/drawingml/2006/main">
              <a:ext uri="{FF2B5EF4-FFF2-40B4-BE49-F238E27FC236}">
                <a16:creationId xmlns:a16="http://schemas.microsoft.com/office/drawing/2014/main" id="{BFC24A4B-28AD-4643-B400-AB54C1876ECF}"/>
              </a:ext>
            </a:extLst>
          </p:cNvPr>
          <p:cNvSpPr>
            <a:spLocks xmlns:a="http://schemas.openxmlformats.org/drawingml/2006/main" noGrp="1"/>
          </p:cNvSpPr>
          <p:nvPr/>
        </p:nvSpPr>
        <p:spPr>
          <a:xfrm xmlns:a="http://schemas.openxmlformats.org/drawingml/2006/main">
            <a:off x="1466850" y="4552950"/>
            <a:ext cx="10001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172536"/>
                </a:solidFill>
                <a:latin typeface="Helvetica Neue"/>
                <a:ea typeface="Helvetica Neue"/>
                <a:cs typeface="Helvetica Neue"/>
              </a:defRPr>
            </a:pPr>
            <a:r>
              <a:rPr sz="1725" b="0">
                <a:solidFill>
                  <a:srgbClr val="172536"/>
                </a:solidFill>
                <a:latin typeface="Helvetica Neue"/>
                <a:ea typeface="Helvetica Neue"/>
                <a:cs typeface="Helvetica Neue"/>
              </a:rPr>
              <a:t>Public data cannot reveal pain, trust, workflow, or willingness to pay</a:t>
            </a:r>
          </a:p>
        </p:txBody>
      </p:sp>
      <p:sp>
        <p:nvSpPr>
          <p:cNvPr id="12" name="">
            <a:extLst xmlns:a="http://schemas.openxmlformats.org/drawingml/2006/main">
              <a:ext uri="{FF2B5EF4-FFF2-40B4-BE49-F238E27FC236}">
                <a16:creationId xmlns:a16="http://schemas.microsoft.com/office/drawing/2014/main" id="{BDD63FC1-8654-469B-AA13-A254B3120953}"/>
              </a:ext>
            </a:extLst>
          </p:cNvPr>
          <p:cNvSpPr>
            <a:spLocks xmlns:a="http://schemas.openxmlformats.org/drawingml/2006/main" noGrp="1"/>
          </p:cNvSpPr>
          <p:nvPr/>
        </p:nvSpPr>
        <p:spPr>
          <a:xfrm xmlns:a="http://schemas.openxmlformats.org/drawingml/2006/main">
            <a:off x="685800" y="6124575"/>
            <a:ext cx="10144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60" b="0">
                <a:solidFill>
                  <a:srgbClr val="607284"/>
                </a:solidFill>
                <a:latin typeface="Helvetica Neue"/>
                <a:ea typeface="Helvetica Neue"/>
                <a:cs typeface="Helvetica Neue"/>
              </a:defRPr>
            </a:pPr>
            <a:r>
              <a:rPr sz="960" b="0">
                <a:solidFill>
                  <a:srgbClr val="607284"/>
                </a:solidFill>
                <a:latin typeface="Helvetica Neue"/>
                <a:ea typeface="Helvetica Neue"/>
                <a:cs typeface="Helvetica Neue"/>
              </a:rPr>
              <a:t>CBP measures employer locations; OEWS is a modeled occupational estimate. Sources in speaker notes and README.</a:t>
            </a:r>
          </a:p>
        </p:txBody>
      </p:sp>
    </p:spTree>
    <p:extLst>
      <p:ext uri="{BB962C8B-B14F-4D97-AF65-F5344CB8AC3E}">
        <p14:creationId xmlns:p14="http://schemas.microsoft.com/office/powerpoint/2010/main" val="162465601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4D501450-86D5-4197-9676-48478B993410}"/>
              </a:ext>
            </a:extLst>
          </p:cNvPr>
          <p:cNvSpPr>
            <a:spLocks xmlns:a="http://schemas.openxmlformats.org/drawingml/2006/main" noGrp="1"/>
          </p:cNvSpPr>
          <p:nvPr/>
        </p:nvSpPr>
        <p:spPr>
          <a:xfrm xmlns:a="http://schemas.openxmlformats.org/drawingml/2006/main">
            <a:off x="685800" y="266700"/>
            <a:ext cx="809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007E87"/>
                </a:solidFill>
                <a:latin typeface="Helvetica Neue"/>
                <a:ea typeface="Helvetica Neue"/>
                <a:cs typeface="Helvetica Neue"/>
              </a:defRPr>
            </a:pPr>
            <a:r>
              <a:rPr sz="1125" b="1">
                <a:solidFill>
                  <a:srgbClr val="007E87"/>
                </a:solidFill>
                <a:latin typeface="Helvetica Neue"/>
                <a:ea typeface="Helvetica Neue"/>
                <a:cs typeface="Helvetica Neue"/>
              </a:rPr>
              <a:t>AIPI 510 · MODULE PROJECT 1</a:t>
            </a:r>
          </a:p>
        </p:txBody>
      </p:sp>
      <p:sp>
        <p:nvSpPr>
          <p:cNvPr id="2" name="">
            <a:extLst xmlns:a="http://schemas.openxmlformats.org/drawingml/2006/main">
              <a:ext uri="{FF2B5EF4-FFF2-40B4-BE49-F238E27FC236}">
                <a16:creationId xmlns:a16="http://schemas.microsoft.com/office/drawing/2014/main" id="{C755891A-2BC8-462A-B982-E75FA2336711}"/>
              </a:ext>
            </a:extLst>
          </p:cNvPr>
          <p:cNvSpPr>
            <a:spLocks xmlns:a="http://schemas.openxmlformats.org/drawingml/2006/main" noGrp="1"/>
          </p:cNvSpPr>
          <p:nvPr/>
        </p:nvSpPr>
        <p:spPr>
          <a:xfrm xmlns:a="http://schemas.openxmlformats.org/drawingml/2006/main">
            <a:off x="685800" y="638175"/>
            <a:ext cx="10810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183153"/>
                </a:solidFill>
                <a:latin typeface="Helvetica Neue"/>
                <a:ea typeface="Helvetica Neue"/>
                <a:cs typeface="Helvetica Neue"/>
              </a:defRPr>
            </a:pPr>
            <a:r>
              <a:rPr sz="2700" b="1">
                <a:solidFill>
                  <a:srgbClr val="183153"/>
                </a:solidFill>
                <a:latin typeface="Helvetica Neue"/>
                <a:ea typeface="Helvetica Neue"/>
                <a:cs typeface="Helvetica Neue"/>
              </a:rPr>
              <a:t>Four markets to interview next</a:t>
            </a:r>
          </a:p>
        </p:txBody>
      </p:sp>
      <p:sp>
        <p:nvSpPr>
          <p:cNvPr id="3" name="">
            <a:extLst xmlns:a="http://schemas.openxmlformats.org/drawingml/2006/main">
              <a:ext uri="{FF2B5EF4-FFF2-40B4-BE49-F238E27FC236}">
                <a16:creationId xmlns:a16="http://schemas.microsoft.com/office/drawing/2014/main" id="{C7DD98B2-47F5-4DED-AE2B-D6851A252CDB}"/>
              </a:ext>
            </a:extLst>
          </p:cNvPr>
          <p:cNvSpPr>
            <a:spLocks xmlns:a="http://schemas.openxmlformats.org/drawingml/2006/main" noGrp="1"/>
          </p:cNvSpPr>
          <p:nvPr/>
        </p:nvSpPr>
        <p:spPr>
          <a:xfrm xmlns:a="http://schemas.openxmlformats.org/drawingml/2006/main">
            <a:off x="10934700" y="6343650"/>
            <a:ext cx="666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0">
                <a:solidFill>
                  <a:srgbClr val="607284"/>
                </a:solidFill>
                <a:latin typeface="Helvetica Neue"/>
                <a:ea typeface="Helvetica Neue"/>
                <a:cs typeface="Helvetica Neue"/>
              </a:defRPr>
            </a:pPr>
            <a:r>
              <a:rPr sz="1050" b="0">
                <a:solidFill>
                  <a:srgbClr val="607284"/>
                </a:solidFill>
                <a:latin typeface="Helvetica Neue"/>
                <a:ea typeface="Helvetica Neue"/>
                <a:cs typeface="Helvetica Neue"/>
              </a:rPr>
              <a:t>7 / 7</a:t>
            </a:r>
          </a:p>
        </p:txBody>
      </p:sp>
      <p:sp>
        <p:nvSpPr>
          <p:cNvPr id="4" name="">
            <a:extLst xmlns:a="http://schemas.openxmlformats.org/drawingml/2006/main">
              <a:ext uri="{FF2B5EF4-FFF2-40B4-BE49-F238E27FC236}">
                <a16:creationId xmlns:a16="http://schemas.microsoft.com/office/drawing/2014/main" id="{780961BF-9AEB-4E31-80DD-E55DD7A1DAF8}"/>
              </a:ext>
            </a:extLst>
          </p:cNvPr>
          <p:cNvSpPr>
            <a:spLocks xmlns:a="http://schemas.openxmlformats.org/drawingml/2006/main" noGrp="1"/>
          </p:cNvSpPr>
          <p:nvPr/>
        </p:nvSpPr>
        <p:spPr>
          <a:xfrm xmlns:a="http://schemas.openxmlformats.org/drawingml/2006/main">
            <a:off x="714375" y="1666875"/>
            <a:ext cx="5429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183153"/>
                </a:solidFill>
                <a:latin typeface="Helvetica Neue"/>
                <a:ea typeface="Helvetica Neue"/>
                <a:cs typeface="Helvetica Neue"/>
              </a:defRPr>
            </a:pPr>
            <a:r>
              <a:rPr sz="2100" b="1">
                <a:solidFill>
                  <a:srgbClr val="183153"/>
                </a:solidFill>
                <a:latin typeface="Helvetica Neue"/>
                <a:ea typeface="Helvetica Neue"/>
                <a:cs typeface="Helvetica Neue"/>
              </a:rPr>
              <a:t>Accounting and tax</a:t>
            </a:r>
          </a:p>
        </p:txBody>
      </p:sp>
      <p:sp>
        <p:nvSpPr>
          <p:cNvPr id="5" name="">
            <a:extLst xmlns:a="http://schemas.openxmlformats.org/drawingml/2006/main">
              <a:ext uri="{FF2B5EF4-FFF2-40B4-BE49-F238E27FC236}">
                <a16:creationId xmlns:a16="http://schemas.microsoft.com/office/drawing/2014/main" id="{7D75FAD3-F98F-48BD-9BCA-6347462221F2}"/>
              </a:ext>
            </a:extLst>
          </p:cNvPr>
          <p:cNvSpPr>
            <a:spLocks xmlns:a="http://schemas.openxmlformats.org/drawingml/2006/main" noGrp="1"/>
          </p:cNvSpPr>
          <p:nvPr/>
        </p:nvSpPr>
        <p:spPr>
          <a:xfrm xmlns:a="http://schemas.openxmlformats.org/drawingml/2006/main">
            <a:off x="714375" y="2114550"/>
            <a:ext cx="514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172536"/>
                </a:solidFill>
                <a:latin typeface="Helvetica Neue"/>
                <a:ea typeface="Helvetica Neue"/>
                <a:cs typeface="Helvetica Neue"/>
              </a:defRPr>
            </a:pPr>
            <a:r>
              <a:rPr sz="1425" b="0">
                <a:solidFill>
                  <a:srgbClr val="172536"/>
                </a:solidFill>
                <a:latin typeface="Helvetica Neue"/>
                <a:ea typeface="Helvetica Neue"/>
                <a:cs typeface="Helvetica Neue"/>
              </a:rPr>
              <a:t>129k small locations; strong admin share</a:t>
            </a:r>
          </a:p>
        </p:txBody>
      </p:sp>
      <p:sp>
        <p:nvSpPr>
          <p:cNvPr id="6" name="">
            <a:extLst xmlns:a="http://schemas.openxmlformats.org/drawingml/2006/main">
              <a:ext uri="{FF2B5EF4-FFF2-40B4-BE49-F238E27FC236}">
                <a16:creationId xmlns:a16="http://schemas.microsoft.com/office/drawing/2014/main" id="{69DEDDE9-EBFF-4FD6-B290-FCB85DE42E69}"/>
              </a:ext>
            </a:extLst>
          </p:cNvPr>
          <p:cNvSpPr>
            <a:spLocks xmlns:a="http://schemas.openxmlformats.org/drawingml/2006/main" noGrp="1"/>
          </p:cNvSpPr>
          <p:nvPr/>
        </p:nvSpPr>
        <p:spPr>
          <a:xfrm xmlns:a="http://schemas.openxmlformats.org/drawingml/2006/main">
            <a:off x="6334125" y="1666875"/>
            <a:ext cx="5143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183153"/>
                </a:solidFill>
                <a:latin typeface="Helvetica Neue"/>
                <a:ea typeface="Helvetica Neue"/>
                <a:cs typeface="Helvetica Neue"/>
              </a:defRPr>
            </a:pPr>
            <a:r>
              <a:rPr sz="2100" b="1">
                <a:solidFill>
                  <a:srgbClr val="183153"/>
                </a:solidFill>
                <a:latin typeface="Helvetica Neue"/>
                <a:ea typeface="Helvetica Neue"/>
                <a:cs typeface="Helvetica Neue"/>
              </a:rPr>
              <a:t>Dental offices</a:t>
            </a:r>
          </a:p>
        </p:txBody>
      </p:sp>
      <p:sp>
        <p:nvSpPr>
          <p:cNvPr id="7" name="">
            <a:extLst xmlns:a="http://schemas.openxmlformats.org/drawingml/2006/main">
              <a:ext uri="{FF2B5EF4-FFF2-40B4-BE49-F238E27FC236}">
                <a16:creationId xmlns:a16="http://schemas.microsoft.com/office/drawing/2014/main" id="{A70FD4DD-A4E8-4894-8BB2-9CC0391C4ECC}"/>
              </a:ext>
            </a:extLst>
          </p:cNvPr>
          <p:cNvSpPr>
            <a:spLocks xmlns:a="http://schemas.openxmlformats.org/drawingml/2006/main" noGrp="1"/>
          </p:cNvSpPr>
          <p:nvPr/>
        </p:nvSpPr>
        <p:spPr>
          <a:xfrm xmlns:a="http://schemas.openxmlformats.org/drawingml/2006/main">
            <a:off x="6334125" y="2114550"/>
            <a:ext cx="514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172536"/>
                </a:solidFill>
                <a:latin typeface="Helvetica Neue"/>
                <a:ea typeface="Helvetica Neue"/>
                <a:cs typeface="Helvetica Neue"/>
              </a:defRPr>
            </a:pPr>
            <a:r>
              <a:rPr sz="1425" b="0">
                <a:solidFill>
                  <a:srgbClr val="172536"/>
                </a:solidFill>
                <a:latin typeface="Helvetica Neue"/>
                <a:ea typeface="Helvetica Neue"/>
                <a:cs typeface="Helvetica Neue"/>
              </a:rPr>
              <a:t>129k small locations; 28% admin share</a:t>
            </a:r>
          </a:p>
        </p:txBody>
      </p:sp>
      <p:sp>
        <p:nvSpPr>
          <p:cNvPr id="8" name="">
            <a:extLst xmlns:a="http://schemas.openxmlformats.org/drawingml/2006/main">
              <a:ext uri="{FF2B5EF4-FFF2-40B4-BE49-F238E27FC236}">
                <a16:creationId xmlns:a16="http://schemas.microsoft.com/office/drawing/2014/main" id="{B3E71261-EEE7-4B57-A508-0B652F237205}"/>
              </a:ext>
            </a:extLst>
          </p:cNvPr>
          <p:cNvSpPr>
            <a:spLocks xmlns:a="http://schemas.openxmlformats.org/drawingml/2006/main" noGrp="1"/>
          </p:cNvSpPr>
          <p:nvPr/>
        </p:nvSpPr>
        <p:spPr>
          <a:xfrm xmlns:a="http://schemas.openxmlformats.org/drawingml/2006/main">
            <a:off x="714375" y="3095625"/>
            <a:ext cx="5143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183153"/>
                </a:solidFill>
                <a:latin typeface="Helvetica Neue"/>
                <a:ea typeface="Helvetica Neue"/>
                <a:cs typeface="Helvetica Neue"/>
              </a:defRPr>
            </a:pPr>
            <a:r>
              <a:rPr sz="2100" b="1">
                <a:solidFill>
                  <a:srgbClr val="183153"/>
                </a:solidFill>
                <a:latin typeface="Helvetica Neue"/>
                <a:ea typeface="Helvetica Neue"/>
                <a:cs typeface="Helvetica Neue"/>
              </a:rPr>
              <a:t>Legal services</a:t>
            </a:r>
          </a:p>
        </p:txBody>
      </p:sp>
      <p:sp>
        <p:nvSpPr>
          <p:cNvPr id="9" name="">
            <a:extLst xmlns:a="http://schemas.openxmlformats.org/drawingml/2006/main">
              <a:ext uri="{FF2B5EF4-FFF2-40B4-BE49-F238E27FC236}">
                <a16:creationId xmlns:a16="http://schemas.microsoft.com/office/drawing/2014/main" id="{637E1E53-2301-4A23-AE29-CB2F09AE2498}"/>
              </a:ext>
            </a:extLst>
          </p:cNvPr>
          <p:cNvSpPr>
            <a:spLocks xmlns:a="http://schemas.openxmlformats.org/drawingml/2006/main" noGrp="1"/>
          </p:cNvSpPr>
          <p:nvPr/>
        </p:nvSpPr>
        <p:spPr>
          <a:xfrm xmlns:a="http://schemas.openxmlformats.org/drawingml/2006/main">
            <a:off x="714375" y="3543300"/>
            <a:ext cx="5143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172536"/>
                </a:solidFill>
                <a:latin typeface="Helvetica Neue"/>
                <a:ea typeface="Helvetica Neue"/>
                <a:cs typeface="Helvetica Neue"/>
              </a:defRPr>
            </a:pPr>
            <a:r>
              <a:rPr sz="1425" b="0">
                <a:solidFill>
                  <a:srgbClr val="172536"/>
                </a:solidFill>
                <a:latin typeface="Helvetica Neue"/>
                <a:ea typeface="Helvetica Neue"/>
                <a:cs typeface="Helvetica Neue"/>
              </a:rPr>
              <a:t>Largest small-location count in this screen</a:t>
            </a:r>
          </a:p>
        </p:txBody>
      </p:sp>
      <p:sp>
        <p:nvSpPr>
          <p:cNvPr id="10" name="">
            <a:extLst xmlns:a="http://schemas.openxmlformats.org/drawingml/2006/main">
              <a:ext uri="{FF2B5EF4-FFF2-40B4-BE49-F238E27FC236}">
                <a16:creationId xmlns:a16="http://schemas.microsoft.com/office/drawing/2014/main" id="{7512782C-865E-47A1-AA42-6E52A807ACB3}"/>
              </a:ext>
            </a:extLst>
          </p:cNvPr>
          <p:cNvSpPr>
            <a:spLocks xmlns:a="http://schemas.openxmlformats.org/drawingml/2006/main" noGrp="1"/>
          </p:cNvSpPr>
          <p:nvPr/>
        </p:nvSpPr>
        <p:spPr>
          <a:xfrm xmlns:a="http://schemas.openxmlformats.org/drawingml/2006/main">
            <a:off x="6334125" y="3095625"/>
            <a:ext cx="5143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183153"/>
                </a:solidFill>
                <a:latin typeface="Helvetica Neue"/>
                <a:ea typeface="Helvetica Neue"/>
                <a:cs typeface="Helvetica Neue"/>
              </a:defRPr>
            </a:pPr>
            <a:r>
              <a:rPr sz="2100" b="1">
                <a:solidFill>
                  <a:srgbClr val="183153"/>
                </a:solidFill>
                <a:latin typeface="Helvetica Neue"/>
                <a:ea typeface="Helvetica Neue"/>
                <a:cs typeface="Helvetica Neue"/>
              </a:rPr>
              <a:t>Chiropractors</a:t>
            </a:r>
          </a:p>
        </p:txBody>
      </p:sp>
      <p:sp>
        <p:nvSpPr>
          <p:cNvPr id="11" name="">
            <a:extLst xmlns:a="http://schemas.openxmlformats.org/drawingml/2006/main">
              <a:ext uri="{FF2B5EF4-FFF2-40B4-BE49-F238E27FC236}">
                <a16:creationId xmlns:a16="http://schemas.microsoft.com/office/drawing/2014/main" id="{09F1887D-4DB2-4DAB-A62E-88F18DDB9A18}"/>
              </a:ext>
            </a:extLst>
          </p:cNvPr>
          <p:cNvSpPr>
            <a:spLocks xmlns:a="http://schemas.openxmlformats.org/drawingml/2006/main" noGrp="1"/>
          </p:cNvSpPr>
          <p:nvPr/>
        </p:nvSpPr>
        <p:spPr>
          <a:xfrm xmlns:a="http://schemas.openxmlformats.org/drawingml/2006/main">
            <a:off x="6334125" y="3543300"/>
            <a:ext cx="5143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172536"/>
                </a:solidFill>
                <a:latin typeface="Helvetica Neue"/>
                <a:ea typeface="Helvetica Neue"/>
                <a:cs typeface="Helvetica Neue"/>
              </a:defRPr>
            </a:pPr>
            <a:r>
              <a:rPr sz="1425" b="0">
                <a:solidFill>
                  <a:srgbClr val="172536"/>
                </a:solidFill>
                <a:latin typeface="Helvetica Neue"/>
                <a:ea typeface="Helvetica Neue"/>
                <a:cs typeface="Helvetica Neue"/>
              </a:rPr>
              <a:t>Highest admin share; smaller market depth</a:t>
            </a:r>
          </a:p>
        </p:txBody>
      </p:sp>
      <p:sp>
        <p:nvSpPr>
          <p:cNvPr id="12" name="">
            <a:extLst xmlns:a="http://schemas.openxmlformats.org/drawingml/2006/main">
              <a:ext uri="{FF2B5EF4-FFF2-40B4-BE49-F238E27FC236}">
                <a16:creationId xmlns:a16="http://schemas.microsoft.com/office/drawing/2014/main" id="{965E9E7E-7A39-4020-80A5-31302F93944F}"/>
              </a:ext>
            </a:extLst>
          </p:cNvPr>
          <p:cNvSpPr>
            <a:spLocks xmlns:a="http://schemas.openxmlformats.org/drawingml/2006/main" noGrp="1"/>
          </p:cNvSpPr>
          <p:nvPr/>
        </p:nvSpPr>
        <p:spPr>
          <a:xfrm xmlns:a="http://schemas.openxmlformats.org/drawingml/2006/main">
            <a:off x="714375" y="5000625"/>
            <a:ext cx="1062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007E87"/>
                </a:solidFill>
                <a:latin typeface="Helvetica Neue"/>
                <a:ea typeface="Helvetica Neue"/>
                <a:cs typeface="Helvetica Neue"/>
              </a:defRPr>
            </a:pPr>
            <a:r>
              <a:rPr sz="1725" b="1">
                <a:solidFill>
                  <a:srgbClr val="007E87"/>
                </a:solidFill>
                <a:latin typeface="Helvetica Neue"/>
                <a:ea typeface="Helvetica Neue"/>
                <a:cs typeface="Helvetica Neue"/>
              </a:rPr>
              <a:t>Next step: ask operators which administrative tasks are painful, costly, and safe to improve.</a:t>
            </a:r>
          </a:p>
        </p:txBody>
      </p:sp>
      <p:sp>
        <p:nvSpPr>
          <p:cNvPr id="13" name="">
            <a:extLst xmlns:a="http://schemas.openxmlformats.org/drawingml/2006/main">
              <a:ext uri="{FF2B5EF4-FFF2-40B4-BE49-F238E27FC236}">
                <a16:creationId xmlns:a16="http://schemas.microsoft.com/office/drawing/2014/main" id="{AA06C01F-E829-401A-8477-2119B9F5C093}"/>
              </a:ext>
            </a:extLst>
          </p:cNvPr>
          <p:cNvSpPr>
            <a:spLocks xmlns:a="http://schemas.openxmlformats.org/drawingml/2006/main" noGrp="1"/>
          </p:cNvSpPr>
          <p:nvPr/>
        </p:nvSpPr>
        <p:spPr>
          <a:xfrm xmlns:a="http://schemas.openxmlformats.org/drawingml/2006/main">
            <a:off x="685800" y="6124575"/>
            <a:ext cx="10144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60" b="0">
                <a:solidFill>
                  <a:srgbClr val="607284"/>
                </a:solidFill>
                <a:latin typeface="Helvetica Neue"/>
                <a:ea typeface="Helvetica Neue"/>
                <a:cs typeface="Helvetica Neue"/>
              </a:defRPr>
            </a:pPr>
            <a:r>
              <a:rPr sz="960" b="0">
                <a:solidFill>
                  <a:srgbClr val="607284"/>
                </a:solidFill>
                <a:latin typeface="Helvetica Neue"/>
                <a:ea typeface="Helvetica Neue"/>
                <a:cs typeface="Helvetica Neue"/>
              </a:rPr>
              <a:t>This is an interview shortlist, not a ranking of product opportunities or proof of demand.</a:t>
            </a:r>
          </a:p>
        </p:txBody>
      </p:sp>
    </p:spTree>
    <p:extLst>
      <p:ext uri="{BB962C8B-B14F-4D97-AF65-F5344CB8AC3E}">
        <p14:creationId xmlns:p14="http://schemas.microsoft.com/office/powerpoint/2010/main" val="73079239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2026-09-24T00:33:36.0080000Z</dcterms:created>
  <dcterms:modified xsi:type="dcterms:W3CDTF">2026-09-24T00:33:36.0080000Z</dcterms:modified>
</coreProperties>
</file>